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4"/>
    <p:sldId id="258" r:id="rId5"/>
    <p:sldId id="261" r:id="rId6"/>
    <p:sldId id="259" r:id="rId7"/>
    <p:sldId id="260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D82"/>
    <a:srgbClr val="1827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104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7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1143000"/>
            <a:ext cx="640080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tos"/>
              </a:rPr>
              <a:t>GrantScopeAI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1965960"/>
            <a:ext cx="580644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300" b="0" dirty="0">
                <a:solidFill>
                  <a:srgbClr val="FFFFFF"/>
                </a:solidFill>
                <a:latin typeface="Aptos"/>
              </a:rPr>
              <a:t>From a research idea to the funded research landscape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4672" y="3063240"/>
            <a:ext cx="1051560" cy="73152"/>
          </a:xfrm>
          <a:prstGeom prst="roundRect">
            <a:avLst/>
          </a:prstGeom>
          <a:solidFill>
            <a:srgbClr val="755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3337560"/>
            <a:ext cx="5669280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600" b="0" dirty="0">
                <a:solidFill>
                  <a:srgbClr val="E1E5EF"/>
                </a:solidFill>
                <a:latin typeface="Aptos"/>
              </a:rPr>
              <a:t>Scientific funding landscape analysis
+ interpretable research discovery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78040" y="1325880"/>
            <a:ext cx="4069080" cy="932688"/>
          </a:xfrm>
          <a:prstGeom prst="roundRect">
            <a:avLst/>
          </a:prstGeom>
          <a:solidFill>
            <a:srgbClr val="25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52360" y="1463039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Funding Landscape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801368"/>
            <a:ext cx="3520440" cy="33832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E1E5EF"/>
                </a:solidFill>
                <a:latin typeface="Aptos"/>
              </a:rPr>
              <a:t>Explore trends, topics, programmes and organisations.</a:t>
            </a:r>
          </a:p>
        </p:txBody>
      </p:sp>
      <p:sp>
        <p:nvSpPr>
          <p:cNvPr id="9" name="Oval 8"/>
          <p:cNvSpPr/>
          <p:nvPr/>
        </p:nvSpPr>
        <p:spPr>
          <a:xfrm>
            <a:off x="6720840" y="1554480"/>
            <a:ext cx="457200" cy="457200"/>
          </a:xfrm>
          <a:prstGeom prst="ellipse">
            <a:avLst/>
          </a:prstGeom>
          <a:solidFill>
            <a:srgbClr val="846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20840" y="162763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78040" y="2743200"/>
            <a:ext cx="4069080" cy="932688"/>
          </a:xfrm>
          <a:prstGeom prst="roundRect">
            <a:avLst/>
          </a:prstGeom>
          <a:solidFill>
            <a:srgbClr val="25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52360" y="2880360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Research Discovery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3218688"/>
            <a:ext cx="3520440" cy="33832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E1E5EF"/>
                </a:solidFill>
                <a:latin typeface="Aptos"/>
              </a:rPr>
              <a:t>Enter a concept and retrieve comparable funded projects.</a:t>
            </a:r>
          </a:p>
        </p:txBody>
      </p:sp>
      <p:sp>
        <p:nvSpPr>
          <p:cNvPr id="14" name="Oval 13"/>
          <p:cNvSpPr/>
          <p:nvPr/>
        </p:nvSpPr>
        <p:spPr>
          <a:xfrm>
            <a:off x="6720840" y="2971800"/>
            <a:ext cx="457200" cy="457200"/>
          </a:xfrm>
          <a:prstGeom prst="ellipse">
            <a:avLst/>
          </a:prstGeom>
          <a:solidFill>
            <a:srgbClr val="947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20840" y="304495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78040" y="4160520"/>
            <a:ext cx="4069080" cy="932688"/>
          </a:xfrm>
          <a:prstGeom prst="roundRect">
            <a:avLst/>
          </a:prstGeom>
          <a:solidFill>
            <a:srgbClr val="25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52360" y="4297680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Decision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4636008"/>
            <a:ext cx="3520440" cy="33832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E1E5EF"/>
                </a:solidFill>
                <a:latin typeface="Aptos"/>
              </a:rPr>
              <a:t>Turn ranked matches into useful starting points.</a:t>
            </a:r>
          </a:p>
        </p:txBody>
      </p:sp>
      <p:sp>
        <p:nvSpPr>
          <p:cNvPr id="19" name="Oval 18"/>
          <p:cNvSpPr/>
          <p:nvPr/>
        </p:nvSpPr>
        <p:spPr>
          <a:xfrm>
            <a:off x="6720840" y="4389120"/>
            <a:ext cx="457200" cy="457200"/>
          </a:xfrm>
          <a:prstGeom prst="ellipse">
            <a:avLst/>
          </a:prstGeom>
          <a:solidFill>
            <a:srgbClr val="B099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20840" y="44622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5989320"/>
            <a:ext cx="56692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200" b="1" dirty="0">
                <a:solidFill>
                  <a:srgbClr val="FFFFFF"/>
                </a:solidFill>
                <a:latin typeface="Aptos"/>
              </a:rPr>
              <a:t>Kyle Haustein • </a:t>
            </a:r>
            <a:r>
              <a:rPr sz="1200" b="1" dirty="0" err="1">
                <a:solidFill>
                  <a:srgbClr val="FFFFFF"/>
                </a:solidFill>
                <a:latin typeface="Aptos"/>
              </a:rPr>
              <a:t>Ironhack</a:t>
            </a:r>
            <a:r>
              <a:rPr sz="1200" b="1" dirty="0">
                <a:solidFill>
                  <a:srgbClr val="FFFFFF"/>
                </a:solidFill>
                <a:latin typeface="Aptos"/>
              </a:rPr>
              <a:t> Data Analytics Bootcamp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01984" y="6428232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36D82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82745"/>
                </a:solidFill>
                <a:latin typeface="Aptos"/>
              </a:rPr>
              <a:t>Why I Built GrantScopeAI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033271"/>
            <a:ext cx="841248" cy="59436"/>
          </a:xfrm>
          <a:prstGeom prst="roundRect">
            <a:avLst/>
          </a:prstGeom>
          <a:solidFill>
            <a:srgbClr val="755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36D82"/>
                </a:solidFill>
                <a:latin typeface="Aptos"/>
              </a:rPr>
              <a:t>A final project designed around the kind of scientific-data work I want to 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3756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1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32688" y="2011680"/>
            <a:ext cx="502920" cy="109728"/>
          </a:xfrm>
          <a:prstGeom prst="roundRect">
            <a:avLst/>
          </a:prstGeom>
          <a:solidFill>
            <a:srgbClr val="755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2212848"/>
            <a:ext cx="2898648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82745"/>
                </a:solidFill>
                <a:latin typeface="Aptos"/>
              </a:rPr>
              <a:t>1  Scientific background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706624"/>
            <a:ext cx="2898648" cy="23317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2739"/>
                </a:solidFill>
                <a:latin typeface="Aptos"/>
              </a:rPr>
              <a:t>Chemistry and research gave me a user perspective on how researchers explore projects, literature and funding.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1828800"/>
            <a:ext cx="333756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1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617720" y="2011680"/>
            <a:ext cx="502920" cy="109728"/>
          </a:xfrm>
          <a:prstGeom prst="roundRect">
            <a:avLst/>
          </a:prstGeom>
          <a:solidFill>
            <a:srgbClr val="846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36008" y="2212848"/>
            <a:ext cx="2898648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82745"/>
                </a:solidFill>
                <a:latin typeface="Aptos"/>
              </a:rPr>
              <a:t>2  New technical toolkit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2706624"/>
            <a:ext cx="2898648" cy="23317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2739"/>
                </a:solidFill>
                <a:latin typeface="Aptos"/>
              </a:rPr>
              <a:t>The bootcamp added Python, data integration, visualization, machine learning/NLP and app development.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828800"/>
            <a:ext cx="333756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1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302752" y="2011680"/>
            <a:ext cx="502920" cy="109728"/>
          </a:xfrm>
          <a:prstGeom prst="roundRect">
            <a:avLst/>
          </a:prstGeom>
          <a:solidFill>
            <a:srgbClr val="B099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2212848"/>
            <a:ext cx="2898648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82745"/>
                </a:solidFill>
                <a:latin typeface="Aptos"/>
              </a:rPr>
              <a:t>3  Future direction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426208"/>
            <a:ext cx="2898648" cy="8925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300" b="0" dirty="0">
                <a:solidFill>
                  <a:srgbClr val="1E2739"/>
                </a:solidFill>
                <a:latin typeface="Aptos"/>
              </a:rPr>
              <a:t>I wanted to combine both into a realistic scientific-data and AI decision-support product</a:t>
            </a:r>
            <a:r>
              <a:rPr lang="en-US" sz="1300" b="0" dirty="0">
                <a:solidFill>
                  <a:srgbClr val="1E2739"/>
                </a:solidFill>
                <a:latin typeface="Aptos"/>
              </a:rPr>
              <a:t>, </a:t>
            </a:r>
            <a:r>
              <a:rPr sz="1300" b="0" dirty="0">
                <a:solidFill>
                  <a:srgbClr val="1E2739"/>
                </a:solidFill>
                <a:latin typeface="Aptos"/>
              </a:rPr>
              <a:t>not a generic classroom exercise.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5623560"/>
            <a:ext cx="6309360" cy="420624"/>
          </a:xfrm>
          <a:prstGeom prst="roundRect">
            <a:avLst/>
          </a:prstGeom>
          <a:solidFill>
            <a:srgbClr val="E8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99232" y="5650992"/>
            <a:ext cx="6163056" cy="33832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82745"/>
                </a:solidFill>
                <a:latin typeface="Aptos"/>
              </a:rPr>
              <a:t>Project choice = past expertise + new skills + future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01984" y="6428232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36D82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417912-CAA8-15B7-35CB-C8717318D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>
            <a:extLst>
              <a:ext uri="{FF2B5EF4-FFF2-40B4-BE49-F238E27FC236}">
                <a16:creationId xmlns:a16="http://schemas.microsoft.com/office/drawing/2014/main" id="{A31A0DB4-B2E2-C304-63F1-D0073AFAC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647" y="4414435"/>
            <a:ext cx="2414225" cy="2127688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0D3C1CD4-154D-3767-15A3-42D5F1F99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002" y="1670026"/>
            <a:ext cx="2414225" cy="212768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A610D21-96A5-CC66-D817-CABE04BB2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9285" y="1898378"/>
            <a:ext cx="2414225" cy="212768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20382D-28C8-6372-B07F-20353BFE159D}"/>
              </a:ext>
            </a:extLst>
          </p:cNvPr>
          <p:cNvSpPr txBox="1"/>
          <p:nvPr/>
        </p:nvSpPr>
        <p:spPr>
          <a:xfrm>
            <a:off x="658368" y="404452"/>
            <a:ext cx="10789920" cy="507831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en-US" sz="2700" b="1" dirty="0">
                <a:solidFill>
                  <a:srgbClr val="182745"/>
                </a:solidFill>
                <a:latin typeface="Aptos"/>
              </a:rPr>
              <a:t>Where does </a:t>
            </a:r>
            <a:r>
              <a:rPr lang="en-US" sz="2700" b="1" dirty="0" err="1">
                <a:solidFill>
                  <a:srgbClr val="182745"/>
                </a:solidFill>
                <a:latin typeface="Aptos"/>
              </a:rPr>
              <a:t>GrantScopeAI</a:t>
            </a:r>
            <a:r>
              <a:rPr lang="en-US" sz="2700" b="1" dirty="0">
                <a:solidFill>
                  <a:srgbClr val="182745"/>
                </a:solidFill>
                <a:latin typeface="Aptos"/>
              </a:rPr>
              <a:t> fit?</a:t>
            </a:r>
            <a:endParaRPr sz="2700" b="1" dirty="0">
              <a:solidFill>
                <a:srgbClr val="182745"/>
              </a:solidFill>
              <a:latin typeface="Aptos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37299BC-F6DD-494D-CE22-B7DC9E9C0E5E}"/>
              </a:ext>
            </a:extLst>
          </p:cNvPr>
          <p:cNvSpPr/>
          <p:nvPr/>
        </p:nvSpPr>
        <p:spPr>
          <a:xfrm>
            <a:off x="658368" y="1033271"/>
            <a:ext cx="841248" cy="59436"/>
          </a:xfrm>
          <a:prstGeom prst="roundRect">
            <a:avLst/>
          </a:prstGeom>
          <a:solidFill>
            <a:srgbClr val="755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51C429-4F0D-24A7-E279-2DDE2D41EC05}"/>
              </a:ext>
            </a:extLst>
          </p:cNvPr>
          <p:cNvSpPr txBox="1"/>
          <p:nvPr/>
        </p:nvSpPr>
        <p:spPr>
          <a:xfrm>
            <a:off x="658368" y="1129909"/>
            <a:ext cx="10789920" cy="30777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en-US" sz="1400" b="0" dirty="0">
                <a:solidFill>
                  <a:srgbClr val="636D82"/>
                </a:solidFill>
                <a:latin typeface="Aptos"/>
              </a:rPr>
              <a:t>Research funding is one step in a much larger scientific workflow.</a:t>
            </a:r>
            <a:endParaRPr sz="1400" b="0" dirty="0">
              <a:solidFill>
                <a:srgbClr val="636D82"/>
              </a:solidFill>
              <a:latin typeface="Aptos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ADD9DC2-3BEE-FAC0-9163-22E510EC4827}"/>
              </a:ext>
            </a:extLst>
          </p:cNvPr>
          <p:cNvSpPr/>
          <p:nvPr/>
        </p:nvSpPr>
        <p:spPr>
          <a:xfrm>
            <a:off x="932688" y="1843514"/>
            <a:ext cx="502920" cy="109728"/>
          </a:xfrm>
          <a:prstGeom prst="roundRect">
            <a:avLst/>
          </a:prstGeom>
          <a:solidFill>
            <a:srgbClr val="755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EE5F5C-3851-F6D9-CC6C-4C216E028757}"/>
              </a:ext>
            </a:extLst>
          </p:cNvPr>
          <p:cNvSpPr txBox="1"/>
          <p:nvPr/>
        </p:nvSpPr>
        <p:spPr>
          <a:xfrm>
            <a:off x="756009" y="2050497"/>
            <a:ext cx="2898648" cy="30777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en-US" sz="1400" b="1" dirty="0">
                <a:solidFill>
                  <a:srgbClr val="182745"/>
                </a:solidFill>
                <a:latin typeface="Aptos"/>
              </a:rPr>
              <a:t>1. Research Question</a:t>
            </a:r>
            <a:endParaRPr sz="1400" b="1" dirty="0">
              <a:solidFill>
                <a:srgbClr val="182745"/>
              </a:solidFill>
              <a:latin typeface="Aptos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EE3081D-B3CE-4228-B285-5BAAE184991D}"/>
              </a:ext>
            </a:extLst>
          </p:cNvPr>
          <p:cNvSpPr/>
          <p:nvPr/>
        </p:nvSpPr>
        <p:spPr>
          <a:xfrm>
            <a:off x="4457647" y="1842562"/>
            <a:ext cx="2316689" cy="2031761"/>
          </a:xfrm>
          <a:prstGeom prst="roundRect">
            <a:avLst/>
          </a:prstGeom>
          <a:solidFill>
            <a:srgbClr val="FFFFFF"/>
          </a:solidFill>
          <a:ln>
            <a:solidFill>
              <a:srgbClr val="E1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BB883C5-16D5-F3FB-623F-29CFB3AF2814}"/>
              </a:ext>
            </a:extLst>
          </p:cNvPr>
          <p:cNvSpPr/>
          <p:nvPr/>
        </p:nvSpPr>
        <p:spPr>
          <a:xfrm>
            <a:off x="4617720" y="2011680"/>
            <a:ext cx="502920" cy="109728"/>
          </a:xfrm>
          <a:prstGeom prst="roundRect">
            <a:avLst/>
          </a:prstGeom>
          <a:solidFill>
            <a:srgbClr val="846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E90527-A95B-2DC8-FCA6-AF5279950656}"/>
              </a:ext>
            </a:extLst>
          </p:cNvPr>
          <p:cNvSpPr txBox="1"/>
          <p:nvPr/>
        </p:nvSpPr>
        <p:spPr>
          <a:xfrm>
            <a:off x="4457647" y="2232839"/>
            <a:ext cx="2898648" cy="30777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en-US" sz="1400" b="1" dirty="0">
                <a:solidFill>
                  <a:srgbClr val="182745"/>
                </a:solidFill>
                <a:latin typeface="Aptos"/>
              </a:rPr>
              <a:t>2. Explore Existing Work</a:t>
            </a:r>
            <a:endParaRPr sz="1400" b="1" dirty="0">
              <a:solidFill>
                <a:srgbClr val="182745"/>
              </a:solidFill>
              <a:latin typeface="Aptos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EE8D648-C28F-1A5F-7AA0-1740C89615AB}"/>
              </a:ext>
            </a:extLst>
          </p:cNvPr>
          <p:cNvSpPr/>
          <p:nvPr/>
        </p:nvSpPr>
        <p:spPr>
          <a:xfrm>
            <a:off x="8466609" y="2179370"/>
            <a:ext cx="502920" cy="109728"/>
          </a:xfrm>
          <a:prstGeom prst="roundRect">
            <a:avLst/>
          </a:prstGeom>
          <a:solidFill>
            <a:srgbClr val="B099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998D12-8E28-4A43-CE89-6B95EF9276C3}"/>
              </a:ext>
            </a:extLst>
          </p:cNvPr>
          <p:cNvSpPr txBox="1"/>
          <p:nvPr/>
        </p:nvSpPr>
        <p:spPr>
          <a:xfrm>
            <a:off x="8302752" y="2358274"/>
            <a:ext cx="2898648" cy="30777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en-US" sz="1400" b="1" dirty="0">
                <a:solidFill>
                  <a:srgbClr val="182745"/>
                </a:solidFill>
                <a:latin typeface="Aptos"/>
              </a:rPr>
              <a:t>3. Find Funding</a:t>
            </a:r>
            <a:endParaRPr sz="1400" b="1" dirty="0">
              <a:solidFill>
                <a:srgbClr val="182745"/>
              </a:solidFill>
              <a:latin typeface="Apto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132095-A197-CB3C-1EE5-10A4428E44D6}"/>
              </a:ext>
            </a:extLst>
          </p:cNvPr>
          <p:cNvSpPr txBox="1"/>
          <p:nvPr/>
        </p:nvSpPr>
        <p:spPr>
          <a:xfrm>
            <a:off x="11301984" y="6428232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36D82"/>
                </a:solidFill>
                <a:latin typeface="Aptos"/>
              </a:rPr>
              <a:t>2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CB298AF-C8E9-B7A6-C9D1-C4A23E2333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017" y="4414435"/>
            <a:ext cx="2356210" cy="2255154"/>
          </a:xfrm>
          <a:prstGeom prst="rect">
            <a:avLst/>
          </a:prstGeom>
        </p:spPr>
      </p:pic>
      <p:sp>
        <p:nvSpPr>
          <p:cNvPr id="23" name="Rounded Rectangle 5">
            <a:extLst>
              <a:ext uri="{FF2B5EF4-FFF2-40B4-BE49-F238E27FC236}">
                <a16:creationId xmlns:a16="http://schemas.microsoft.com/office/drawing/2014/main" id="{E0F1D9FB-A8B9-4E9F-642B-D0DE5FEFE16F}"/>
              </a:ext>
            </a:extLst>
          </p:cNvPr>
          <p:cNvSpPr/>
          <p:nvPr/>
        </p:nvSpPr>
        <p:spPr>
          <a:xfrm>
            <a:off x="932688" y="4622234"/>
            <a:ext cx="502920" cy="109728"/>
          </a:xfrm>
          <a:prstGeom prst="roundRect">
            <a:avLst/>
          </a:prstGeom>
          <a:solidFill>
            <a:srgbClr val="755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17D21E-09EA-3226-280F-3A13320463AE}"/>
              </a:ext>
            </a:extLst>
          </p:cNvPr>
          <p:cNvSpPr txBox="1"/>
          <p:nvPr/>
        </p:nvSpPr>
        <p:spPr>
          <a:xfrm>
            <a:off x="756009" y="4833642"/>
            <a:ext cx="2898648" cy="30777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en-US" sz="1400" b="1" dirty="0">
                <a:solidFill>
                  <a:srgbClr val="182745"/>
                </a:solidFill>
                <a:latin typeface="Aptos"/>
              </a:rPr>
              <a:t>4. Develop Proposal</a:t>
            </a:r>
            <a:endParaRPr sz="1400" b="1" dirty="0">
              <a:solidFill>
                <a:srgbClr val="182745"/>
              </a:solidFill>
              <a:latin typeface="Apto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B9BF6D6-2918-9724-C65F-4EBEF11A00B6}"/>
              </a:ext>
            </a:extLst>
          </p:cNvPr>
          <p:cNvSpPr txBox="1"/>
          <p:nvPr/>
        </p:nvSpPr>
        <p:spPr>
          <a:xfrm>
            <a:off x="4457647" y="4833643"/>
            <a:ext cx="2898648" cy="30777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en-US" sz="1400" b="1" dirty="0">
                <a:solidFill>
                  <a:srgbClr val="182745"/>
                </a:solidFill>
                <a:latin typeface="Aptos"/>
              </a:rPr>
              <a:t>5. Conduct Research</a:t>
            </a:r>
            <a:endParaRPr sz="1400" b="1" dirty="0">
              <a:solidFill>
                <a:srgbClr val="182745"/>
              </a:solidFill>
              <a:latin typeface="Aptos"/>
            </a:endParaRPr>
          </a:p>
        </p:txBody>
      </p:sp>
      <p:sp>
        <p:nvSpPr>
          <p:cNvPr id="31" name="Rounded Rectangle 9">
            <a:extLst>
              <a:ext uri="{FF2B5EF4-FFF2-40B4-BE49-F238E27FC236}">
                <a16:creationId xmlns:a16="http://schemas.microsoft.com/office/drawing/2014/main" id="{5F72BC41-70AB-ADE1-F5DC-C82D5DD10BE0}"/>
              </a:ext>
            </a:extLst>
          </p:cNvPr>
          <p:cNvSpPr/>
          <p:nvPr/>
        </p:nvSpPr>
        <p:spPr>
          <a:xfrm>
            <a:off x="4636008" y="4622234"/>
            <a:ext cx="502920" cy="109728"/>
          </a:xfrm>
          <a:prstGeom prst="roundRect">
            <a:avLst/>
          </a:prstGeom>
          <a:solidFill>
            <a:srgbClr val="846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812E130D-0DD6-6B43-6113-54655E6C4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2750" y="4349508"/>
            <a:ext cx="2414225" cy="2127688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09448447-9F29-9062-85CD-90E20D1608DE}"/>
              </a:ext>
            </a:extLst>
          </p:cNvPr>
          <p:cNvSpPr txBox="1"/>
          <p:nvPr/>
        </p:nvSpPr>
        <p:spPr>
          <a:xfrm>
            <a:off x="8403336" y="4833641"/>
            <a:ext cx="2898648" cy="30777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en-US" sz="1400" b="1" dirty="0">
                <a:solidFill>
                  <a:srgbClr val="182745"/>
                </a:solidFill>
                <a:latin typeface="Aptos"/>
              </a:rPr>
              <a:t>6. Publish &amp; Communicate</a:t>
            </a:r>
            <a:endParaRPr sz="1400" b="1" dirty="0">
              <a:solidFill>
                <a:srgbClr val="182745"/>
              </a:solidFill>
              <a:latin typeface="Aptos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40C73CC9-3E73-3960-B53A-DD7A8034C9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6609" y="4513572"/>
            <a:ext cx="591363" cy="195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326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82745"/>
                </a:solidFill>
                <a:latin typeface="Aptos"/>
              </a:rPr>
              <a:t>The data exists. The context is fragmented.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033271"/>
            <a:ext cx="841248" cy="59436"/>
          </a:xfrm>
          <a:prstGeom prst="roundRect">
            <a:avLst/>
          </a:prstGeom>
          <a:solidFill>
            <a:srgbClr val="755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36D82"/>
                </a:solidFill>
                <a:latin typeface="Aptos"/>
              </a:rPr>
              <a:t>Three complementary sources answer different parts of the researcher's question.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799"/>
            <a:ext cx="3017520" cy="1335023"/>
          </a:xfrm>
          <a:prstGeom prst="roundRect">
            <a:avLst/>
          </a:prstGeom>
          <a:solidFill>
            <a:srgbClr val="FFFFFF"/>
          </a:solidFill>
          <a:ln>
            <a:solidFill>
              <a:srgbClr val="E1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78408" y="2011680"/>
            <a:ext cx="502920" cy="109728"/>
          </a:xfrm>
          <a:prstGeom prst="roundRect">
            <a:avLst/>
          </a:prstGeom>
          <a:solidFill>
            <a:srgbClr val="755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2212848"/>
            <a:ext cx="2578608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82745"/>
                </a:solidFill>
                <a:latin typeface="Aptos"/>
              </a:rPr>
              <a:t>NSF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706624"/>
            <a:ext cx="257860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300" b="0" dirty="0">
                <a:solidFill>
                  <a:srgbClr val="1E2739"/>
                </a:solidFill>
                <a:latin typeface="Aptos"/>
              </a:rPr>
              <a:t>U.S. funded research
Historical awards and project abstracts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291840"/>
            <a:ext cx="3017520" cy="1152144"/>
          </a:xfrm>
          <a:prstGeom prst="roundRect">
            <a:avLst/>
          </a:prstGeom>
          <a:solidFill>
            <a:srgbClr val="FFFFFF"/>
          </a:solidFill>
          <a:ln>
            <a:solidFill>
              <a:srgbClr val="E1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78408" y="3474720"/>
            <a:ext cx="502920" cy="109728"/>
          </a:xfrm>
          <a:prstGeom prst="roundRect">
            <a:avLst/>
          </a:prstGeom>
          <a:solidFill>
            <a:srgbClr val="846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96695" y="3675888"/>
            <a:ext cx="2578608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82745"/>
                </a:solidFill>
                <a:latin typeface="Aptos"/>
              </a:rPr>
              <a:t>CORDIS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5" y="4169664"/>
            <a:ext cx="2578608" cy="45719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2739"/>
                </a:solidFill>
                <a:latin typeface="Aptos"/>
              </a:rPr>
              <a:t>Horizon Europe funded research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572000"/>
            <a:ext cx="3017520" cy="1355834"/>
          </a:xfrm>
          <a:prstGeom prst="roundRect">
            <a:avLst/>
          </a:prstGeom>
          <a:solidFill>
            <a:srgbClr val="FFFFFF"/>
          </a:solidFill>
          <a:ln>
            <a:solidFill>
              <a:srgbClr val="E1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78408" y="4754880"/>
            <a:ext cx="502920" cy="109728"/>
          </a:xfrm>
          <a:prstGeom prst="roundRect">
            <a:avLst/>
          </a:prstGeom>
          <a:solidFill>
            <a:srgbClr val="B099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96695" y="4956048"/>
            <a:ext cx="2578608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82745"/>
                </a:solidFill>
                <a:latin typeface="Aptos"/>
              </a:rPr>
              <a:t>OpenAlex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5" y="5449824"/>
            <a:ext cx="257860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2739"/>
                </a:solidFill>
                <a:latin typeface="Aptos"/>
              </a:rPr>
              <a:t>Publication activity
Scientific momentum and context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2148840"/>
            <a:ext cx="6583680" cy="2331720"/>
          </a:xfrm>
          <a:prstGeom prst="roundRect">
            <a:avLst/>
          </a:prstGeom>
          <a:solidFill>
            <a:srgbClr val="F2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37760" y="2514600"/>
            <a:ext cx="5852160" cy="8229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2800" b="1" dirty="0">
                <a:solidFill>
                  <a:srgbClr val="182745"/>
                </a:solidFill>
                <a:latin typeface="Aptos"/>
              </a:rPr>
              <a:t>Where does my
research idea fit?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3474720"/>
            <a:ext cx="521208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1E2739"/>
                </a:solidFill>
                <a:latin typeface="Aptos"/>
              </a:rPr>
              <a:t>GrantScopeAI connects funding history with scientific activity instead of treating each source as an isolated dataset.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4892040"/>
            <a:ext cx="1600200" cy="420624"/>
          </a:xfrm>
          <a:prstGeom prst="roundRect">
            <a:avLst/>
          </a:prstGeom>
          <a:solidFill>
            <a:srgbClr val="E8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02352" y="4919472"/>
            <a:ext cx="1453896" cy="33832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82745"/>
                </a:solidFill>
                <a:latin typeface="Aptos"/>
              </a:rPr>
              <a:t>funding history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4892040"/>
            <a:ext cx="1783080" cy="420624"/>
          </a:xfrm>
          <a:prstGeom prst="roundRect">
            <a:avLst/>
          </a:prstGeom>
          <a:solidFill>
            <a:srgbClr val="E8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76872" y="4919472"/>
            <a:ext cx="1636776" cy="33832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82745"/>
                </a:solidFill>
                <a:latin typeface="Aptos"/>
              </a:rPr>
              <a:t>scientific activity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15400" y="4892040"/>
            <a:ext cx="1737360" cy="420624"/>
          </a:xfrm>
          <a:prstGeom prst="roundRect">
            <a:avLst/>
          </a:prstGeom>
          <a:solidFill>
            <a:srgbClr val="E8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88552" y="4919472"/>
            <a:ext cx="1591056" cy="33832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82745"/>
                </a:solidFill>
                <a:latin typeface="Aptos"/>
              </a:rPr>
              <a:t>research context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01984" y="6428232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36D82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82745"/>
                </a:solidFill>
                <a:latin typeface="Aptos"/>
              </a:rPr>
              <a:t>From bootcamp concepts to one data product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033271"/>
            <a:ext cx="841248" cy="59436"/>
          </a:xfrm>
          <a:prstGeom prst="roundRect">
            <a:avLst/>
          </a:prstGeom>
          <a:solidFill>
            <a:srgbClr val="755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36D82"/>
                </a:solidFill>
                <a:latin typeface="Aptos"/>
              </a:rPr>
              <a:t>The skills became stages of a single end-to-end workflow.</a:t>
            </a:r>
          </a:p>
        </p:txBody>
      </p:sp>
      <p:sp>
        <p:nvSpPr>
          <p:cNvPr id="5" name="Oval 4"/>
          <p:cNvSpPr/>
          <p:nvPr/>
        </p:nvSpPr>
        <p:spPr>
          <a:xfrm>
            <a:off x="1014984" y="1920240"/>
            <a:ext cx="749808" cy="749808"/>
          </a:xfrm>
          <a:prstGeom prst="ellipse">
            <a:avLst/>
          </a:prstGeom>
          <a:solidFill>
            <a:srgbClr val="755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4984" y="2084831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2907792"/>
            <a:ext cx="1755648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82745"/>
                </a:solidFill>
                <a:latin typeface="Aptos"/>
              </a:rPr>
              <a:t>APIs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3346704"/>
            <a:ext cx="1755648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636D82"/>
                </a:solidFill>
                <a:latin typeface="Aptos"/>
              </a:rPr>
              <a:t>NSF + OpenAlex
acquisition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39696" y="2139696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8463C7"/>
                </a:solidFill>
                <a:latin typeface="Aptos"/>
              </a:rPr>
              <a:t>→</a:t>
            </a:r>
          </a:p>
        </p:txBody>
      </p:sp>
      <p:sp>
        <p:nvSpPr>
          <p:cNvPr id="10" name="Oval 9"/>
          <p:cNvSpPr/>
          <p:nvPr/>
        </p:nvSpPr>
        <p:spPr>
          <a:xfrm>
            <a:off x="2916936" y="1920240"/>
            <a:ext cx="749808" cy="749808"/>
          </a:xfrm>
          <a:prstGeom prst="ellipse">
            <a:avLst/>
          </a:prstGeom>
          <a:solidFill>
            <a:srgbClr val="846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16936" y="2084831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14016" y="2907792"/>
            <a:ext cx="1755648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82745"/>
                </a:solidFill>
                <a:latin typeface="Aptos"/>
              </a:rPr>
              <a:t>Python / pandas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14016" y="3346704"/>
            <a:ext cx="1755648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636D82"/>
                </a:solidFill>
                <a:latin typeface="Aptos"/>
              </a:rPr>
              <a:t>cleaning +
harmonisation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41648" y="2139696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8463C7"/>
                </a:solidFill>
                <a:latin typeface="Aptos"/>
              </a:rPr>
              <a:t>→</a:t>
            </a:r>
          </a:p>
        </p:txBody>
      </p:sp>
      <p:sp>
        <p:nvSpPr>
          <p:cNvPr id="15" name="Oval 14"/>
          <p:cNvSpPr/>
          <p:nvPr/>
        </p:nvSpPr>
        <p:spPr>
          <a:xfrm>
            <a:off x="4818888" y="1920240"/>
            <a:ext cx="749808" cy="749808"/>
          </a:xfrm>
          <a:prstGeom prst="ellipse">
            <a:avLst/>
          </a:prstGeom>
          <a:solidFill>
            <a:srgbClr val="947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18888" y="2084831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8" y="2907792"/>
            <a:ext cx="1755648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500" b="1" dirty="0">
                <a:solidFill>
                  <a:srgbClr val="182745"/>
                </a:solidFill>
                <a:latin typeface="Aptos"/>
              </a:rPr>
              <a:t>EDA + quality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8" y="3346704"/>
            <a:ext cx="1755648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636D82"/>
                </a:solidFill>
                <a:latin typeface="Aptos"/>
              </a:rPr>
              <a:t>topic/source
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139696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8463C7"/>
                </a:solidFill>
                <a:latin typeface="Aptos"/>
              </a:rPr>
              <a:t>→</a:t>
            </a:r>
          </a:p>
        </p:txBody>
      </p:sp>
      <p:sp>
        <p:nvSpPr>
          <p:cNvPr id="20" name="Oval 19"/>
          <p:cNvSpPr/>
          <p:nvPr/>
        </p:nvSpPr>
        <p:spPr>
          <a:xfrm>
            <a:off x="6720840" y="1920240"/>
            <a:ext cx="749808" cy="749808"/>
          </a:xfrm>
          <a:prstGeom prst="ellipse">
            <a:avLst/>
          </a:prstGeom>
          <a:solidFill>
            <a:srgbClr val="A48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20840" y="2084831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907792"/>
            <a:ext cx="1755648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82745"/>
                </a:solidFill>
                <a:latin typeface="Aptos"/>
              </a:rPr>
              <a:t>ML / NLP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481075"/>
            <a:ext cx="1755648" cy="26161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100" b="0" dirty="0">
                <a:solidFill>
                  <a:srgbClr val="636D82"/>
                </a:solidFill>
                <a:latin typeface="Aptos"/>
              </a:rPr>
              <a:t>TF-IDF </a:t>
            </a:r>
            <a:r>
              <a:rPr lang="en-US" sz="1100" dirty="0">
                <a:solidFill>
                  <a:srgbClr val="636D82"/>
                </a:solidFill>
                <a:latin typeface="Aptos"/>
              </a:rPr>
              <a:t> text </a:t>
            </a:r>
            <a:r>
              <a:rPr lang="en-US" sz="1100" dirty="0" err="1">
                <a:solidFill>
                  <a:srgbClr val="636D82"/>
                </a:solidFill>
                <a:latin typeface="Aptos"/>
              </a:rPr>
              <a:t>somilarity</a:t>
            </a:r>
            <a:endParaRPr sz="1100" b="0" dirty="0">
              <a:solidFill>
                <a:srgbClr val="636D82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845552" y="2139696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8463C7"/>
                </a:solidFill>
                <a:latin typeface="Aptos"/>
              </a:rPr>
              <a:t>→</a:t>
            </a:r>
          </a:p>
        </p:txBody>
      </p:sp>
      <p:sp>
        <p:nvSpPr>
          <p:cNvPr id="25" name="Oval 24"/>
          <p:cNvSpPr/>
          <p:nvPr/>
        </p:nvSpPr>
        <p:spPr>
          <a:xfrm>
            <a:off x="8622792" y="1920240"/>
            <a:ext cx="749808" cy="749808"/>
          </a:xfrm>
          <a:prstGeom prst="ellipse">
            <a:avLst/>
          </a:prstGeom>
          <a:solidFill>
            <a:srgbClr val="B099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22792" y="2084831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19872" y="2907792"/>
            <a:ext cx="1755648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82745"/>
                </a:solidFill>
                <a:latin typeface="Aptos"/>
              </a:rPr>
              <a:t>Tableau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19872" y="3346704"/>
            <a:ext cx="1755648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100" b="0" dirty="0">
                <a:solidFill>
                  <a:srgbClr val="636D82"/>
                </a:solidFill>
                <a:latin typeface="Aptos"/>
              </a:rPr>
              <a:t>funding
landscape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47504" y="2139696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8463C7"/>
                </a:solidFill>
                <a:latin typeface="Aptos"/>
              </a:rPr>
              <a:t>→</a:t>
            </a:r>
          </a:p>
        </p:txBody>
      </p:sp>
      <p:sp>
        <p:nvSpPr>
          <p:cNvPr id="30" name="Oval 29"/>
          <p:cNvSpPr/>
          <p:nvPr/>
        </p:nvSpPr>
        <p:spPr>
          <a:xfrm>
            <a:off x="10524744" y="1920240"/>
            <a:ext cx="749808" cy="749808"/>
          </a:xfrm>
          <a:prstGeom prst="ellipse">
            <a:avLst/>
          </a:prstGeom>
          <a:solidFill>
            <a:srgbClr val="BEA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524744" y="2084831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21824" y="2907792"/>
            <a:ext cx="1755648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82745"/>
                </a:solidFill>
                <a:latin typeface="Aptos"/>
              </a:rPr>
              <a:t>Streamlit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21824" y="3346704"/>
            <a:ext cx="1755648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636D82"/>
                </a:solidFill>
                <a:latin typeface="Aptos"/>
              </a:rPr>
              <a:t>decision-support
application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965960" y="5532120"/>
            <a:ext cx="8229600" cy="420624"/>
          </a:xfrm>
          <a:prstGeom prst="roundRect">
            <a:avLst/>
          </a:prstGeom>
          <a:solidFill>
            <a:srgbClr val="E8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039112" y="5590216"/>
            <a:ext cx="8083296" cy="276999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200" b="1" dirty="0">
                <a:solidFill>
                  <a:srgbClr val="182745"/>
                </a:solidFill>
                <a:latin typeface="Aptos"/>
              </a:rPr>
              <a:t>The concepts became stages of one usable product</a:t>
            </a:r>
            <a:r>
              <a:rPr lang="en-US" sz="1200" b="1" dirty="0">
                <a:solidFill>
                  <a:srgbClr val="182745"/>
                </a:solidFill>
                <a:latin typeface="Aptos"/>
              </a:rPr>
              <a:t>, </a:t>
            </a:r>
            <a:r>
              <a:rPr sz="1200" b="1" dirty="0">
                <a:solidFill>
                  <a:srgbClr val="182745"/>
                </a:solidFill>
                <a:latin typeface="Aptos"/>
              </a:rPr>
              <a:t>not isolated demonstrations.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01984" y="6428232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36D82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82745"/>
                </a:solidFill>
                <a:latin typeface="Aptos"/>
              </a:rPr>
              <a:t>Building a trustworthy research landscape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033271"/>
            <a:ext cx="841248" cy="59436"/>
          </a:xfrm>
          <a:prstGeom prst="roundRect">
            <a:avLst/>
          </a:prstGeom>
          <a:solidFill>
            <a:srgbClr val="755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226855"/>
            <a:ext cx="10789920" cy="30777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400" b="0" dirty="0">
                <a:solidFill>
                  <a:srgbClr val="636D82"/>
                </a:solidFill>
                <a:latin typeface="Aptos"/>
              </a:rPr>
              <a:t>The important work was deciding what to harmonize</a:t>
            </a:r>
            <a:r>
              <a:rPr lang="en-US" sz="1400" b="0" dirty="0">
                <a:solidFill>
                  <a:srgbClr val="636D82"/>
                </a:solidFill>
                <a:latin typeface="Aptos"/>
              </a:rPr>
              <a:t> </a:t>
            </a:r>
            <a:r>
              <a:rPr sz="1400" b="0" dirty="0">
                <a:solidFill>
                  <a:srgbClr val="636D82"/>
                </a:solidFill>
                <a:latin typeface="Aptos"/>
              </a:rPr>
              <a:t>and what not 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52760" cy="2240280"/>
          </a:xfrm>
          <a:prstGeom prst="roundRect">
            <a:avLst/>
          </a:prstGeom>
          <a:solidFill>
            <a:srgbClr val="F2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2267712"/>
            <a:ext cx="21488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82745"/>
                </a:solidFill>
                <a:latin typeface="Aptos"/>
              </a:rPr>
              <a:t>Acquire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724912"/>
            <a:ext cx="2084831" cy="8046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1E2739"/>
                </a:solidFill>
                <a:latin typeface="Aptos"/>
              </a:rPr>
              <a:t>NSF API
CORDIS bulk CSV
OpenAlex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36392" y="2615184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800" b="1" dirty="0">
                <a:solidFill>
                  <a:srgbClr val="8463C7"/>
                </a:solidFill>
                <a:latin typeface="Aptos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21024" y="2267712"/>
            <a:ext cx="21488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82745"/>
                </a:solidFill>
                <a:latin typeface="Aptos"/>
              </a:rPr>
              <a:t>Clean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21024" y="2724912"/>
            <a:ext cx="2084831" cy="8046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1E2739"/>
                </a:solidFill>
                <a:latin typeface="Aptos"/>
              </a:rPr>
              <a:t>deduplicate
normalize text
select funding fields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9864" y="2615184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8463C7"/>
                </a:solidFill>
                <a:latin typeface="Aptos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4496" y="2267712"/>
            <a:ext cx="21488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82745"/>
                </a:solidFill>
                <a:latin typeface="Aptos"/>
              </a:rPr>
              <a:t>Harmonize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54496" y="2724912"/>
            <a:ext cx="2084831" cy="8046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1E2739"/>
                </a:solidFill>
                <a:latin typeface="Aptos"/>
              </a:rPr>
              <a:t>common grant schema
controlled topic taxonomy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03336" y="2615184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8463C7"/>
                </a:solidFill>
                <a:latin typeface="Aptos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87968" y="2267712"/>
            <a:ext cx="21488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82745"/>
                </a:solidFill>
                <a:latin typeface="Aptos"/>
              </a:rPr>
              <a:t>Validate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87968" y="2724912"/>
            <a:ext cx="2084831" cy="8046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1E2739"/>
                </a:solidFill>
                <a:latin typeface="Aptos"/>
              </a:rPr>
              <a:t>quality rules
source checks
model catalogue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572000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3100" b="1">
                <a:solidFill>
                  <a:srgbClr val="182745"/>
                </a:solidFill>
                <a:latin typeface="Aptos"/>
              </a:rPr>
              <a:t>3,339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07492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636D82"/>
                </a:solidFill>
                <a:latin typeface="Aptos"/>
              </a:rPr>
              <a:t>integrated grants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0" y="4709160"/>
            <a:ext cx="1508760" cy="420624"/>
          </a:xfrm>
          <a:prstGeom prst="roundRect">
            <a:avLst/>
          </a:prstGeom>
          <a:solidFill>
            <a:srgbClr val="E8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816352" y="4736592"/>
            <a:ext cx="1362456" cy="33832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82745"/>
                </a:solidFill>
                <a:latin typeface="Aptos"/>
              </a:rPr>
              <a:t>2,664 NSF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4709160"/>
            <a:ext cx="1508760" cy="420624"/>
          </a:xfrm>
          <a:prstGeom prst="roundRect">
            <a:avLst/>
          </a:prstGeom>
          <a:solidFill>
            <a:srgbClr val="E8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53712" y="4736592"/>
            <a:ext cx="1362456" cy="33832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82745"/>
                </a:solidFill>
                <a:latin typeface="Aptos"/>
              </a:rPr>
              <a:t>675 CORDIS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4434840"/>
            <a:ext cx="4572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784848" y="4617720"/>
            <a:ext cx="502920" cy="109728"/>
          </a:xfrm>
          <a:prstGeom prst="roundRect">
            <a:avLst/>
          </a:prstGeom>
          <a:solidFill>
            <a:srgbClr val="846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03136" y="4818888"/>
            <a:ext cx="4133087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82745"/>
                </a:solidFill>
                <a:latin typeface="Aptos"/>
              </a:rPr>
              <a:t>Deliberate data-quality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03136" y="5284617"/>
            <a:ext cx="4133087" cy="284693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250" b="0" dirty="0">
                <a:solidFill>
                  <a:srgbClr val="1E2739"/>
                </a:solidFill>
                <a:latin typeface="Aptos"/>
              </a:rPr>
              <a:t>NSF remains USD; CORDIS remains EUR.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01984" y="6428232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36D82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4452"/>
            <a:ext cx="10789920" cy="507831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700" b="1" dirty="0">
                <a:solidFill>
                  <a:srgbClr val="182745"/>
                </a:solidFill>
                <a:latin typeface="Aptos"/>
              </a:rPr>
              <a:t>One </a:t>
            </a:r>
            <a:r>
              <a:rPr lang="en-US" sz="2700" b="1" dirty="0">
                <a:solidFill>
                  <a:srgbClr val="182745"/>
                </a:solidFill>
                <a:latin typeface="Aptos"/>
              </a:rPr>
              <a:t>project</a:t>
            </a:r>
            <a:r>
              <a:rPr sz="2700" b="1" dirty="0">
                <a:solidFill>
                  <a:srgbClr val="182745"/>
                </a:solidFill>
                <a:latin typeface="Aptos"/>
              </a:rPr>
              <a:t>. Two different user questions.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033271"/>
            <a:ext cx="841248" cy="59436"/>
          </a:xfrm>
          <a:prstGeom prst="roundRect">
            <a:avLst/>
          </a:prstGeom>
          <a:solidFill>
            <a:srgbClr val="755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400" b="0" dirty="0">
                <a:solidFill>
                  <a:srgbClr val="636D82"/>
                </a:solidFill>
                <a:latin typeface="Aptos"/>
              </a:rPr>
              <a:t>The interface followed the analytical question.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874519"/>
            <a:ext cx="498348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1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69848" y="2057400"/>
            <a:ext cx="502920" cy="109728"/>
          </a:xfrm>
          <a:prstGeom prst="roundRect">
            <a:avLst/>
          </a:prstGeom>
          <a:solidFill>
            <a:srgbClr val="755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8136" y="2295031"/>
            <a:ext cx="4544568" cy="33855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r>
              <a:rPr lang="en-US" sz="1600" b="1" dirty="0">
                <a:solidFill>
                  <a:srgbClr val="182745"/>
                </a:solidFill>
              </a:rPr>
              <a:t>TABLEAU: Strategic Funding Landscape</a:t>
            </a:r>
            <a:endParaRPr sz="1700" b="1" dirty="0">
              <a:solidFill>
                <a:srgbClr val="182745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88136" y="3255145"/>
            <a:ext cx="4544568" cy="160043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lvl="0"/>
            <a:r>
              <a:rPr lang="en-US" sz="1400" dirty="0"/>
              <a:t>Designed for broader analysis and presentation: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Funding and research trends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Topic momentum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Leading organizations and programs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Cross-source landscape overview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 Executive/stakeholder presentations</a:t>
            </a:r>
            <a:endParaRPr lang="en-US" sz="1400" dirty="0"/>
          </a:p>
          <a:p>
            <a:pPr algn="l"/>
            <a:endParaRPr sz="1400" b="0" dirty="0">
              <a:solidFill>
                <a:srgbClr val="1E2739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336792" y="1874519"/>
            <a:ext cx="498348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1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537959" y="2057400"/>
            <a:ext cx="502920" cy="109728"/>
          </a:xfrm>
          <a:prstGeom prst="roundRect">
            <a:avLst/>
          </a:prstGeom>
          <a:solidFill>
            <a:srgbClr val="846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56248" y="2295031"/>
            <a:ext cx="4544568" cy="33855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r>
              <a:rPr lang="en-US" sz="1600" b="1" dirty="0">
                <a:solidFill>
                  <a:srgbClr val="182745"/>
                </a:solidFill>
              </a:rPr>
              <a:t>STREAMLIT: Research Discovery Tool</a:t>
            </a:r>
            <a:endParaRPr sz="1700" b="1" dirty="0">
              <a:solidFill>
                <a:srgbClr val="182745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56248" y="3255145"/>
            <a:ext cx="4544568" cy="160043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r>
              <a:rPr lang="en-US" sz="1400" dirty="0"/>
              <a:t>Designed for repeated researcher use: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Search from a research concept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Find comparable funded projects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Understand why projects matched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Identify organizations and programs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Shortlist and compare results</a:t>
            </a:r>
          </a:p>
          <a:p>
            <a:pPr algn="l"/>
            <a:endParaRPr sz="1400" b="0" dirty="0">
              <a:solidFill>
                <a:srgbClr val="1E2739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301984" y="6428232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36D82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4452"/>
            <a:ext cx="10789920" cy="507831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en-US" sz="2700" b="1" dirty="0">
                <a:solidFill>
                  <a:srgbClr val="182745"/>
                </a:solidFill>
                <a:latin typeface="Aptos"/>
              </a:rPr>
              <a:t>How does </a:t>
            </a:r>
            <a:r>
              <a:rPr lang="en-US" sz="2700" b="1" dirty="0" err="1">
                <a:solidFill>
                  <a:srgbClr val="182745"/>
                </a:solidFill>
                <a:latin typeface="Aptos"/>
              </a:rPr>
              <a:t>GrantScopeAI</a:t>
            </a:r>
            <a:r>
              <a:rPr lang="en-US" sz="2700" b="1" dirty="0">
                <a:solidFill>
                  <a:srgbClr val="182745"/>
                </a:solidFill>
                <a:latin typeface="Aptos"/>
              </a:rPr>
              <a:t> find relevant research</a:t>
            </a:r>
            <a:r>
              <a:rPr sz="2700" b="1" dirty="0">
                <a:solidFill>
                  <a:srgbClr val="182745"/>
                </a:solidFill>
                <a:latin typeface="Aptos"/>
              </a:rPr>
              <a:t>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033271"/>
            <a:ext cx="841248" cy="59436"/>
          </a:xfrm>
          <a:prstGeom prst="roundRect">
            <a:avLst/>
          </a:prstGeom>
          <a:solidFill>
            <a:srgbClr val="755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226855"/>
            <a:ext cx="10789920" cy="30777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r>
              <a:rPr lang="en-US" sz="1400" dirty="0">
                <a:solidFill>
                  <a:srgbClr val="636D82"/>
                </a:solidFill>
              </a:rPr>
              <a:t>The application compares a research idea with previously funded projects and ranks the strongest matches</a:t>
            </a:r>
            <a:r>
              <a:rPr sz="1400" b="0" dirty="0">
                <a:solidFill>
                  <a:srgbClr val="636D82"/>
                </a:solidFill>
                <a:latin typeface="Aptos"/>
              </a:rPr>
              <a:t>.</a:t>
            </a:r>
          </a:p>
        </p:txBody>
      </p:sp>
      <p:sp>
        <p:nvSpPr>
          <p:cNvPr id="5" name="Oval 4"/>
          <p:cNvSpPr/>
          <p:nvPr/>
        </p:nvSpPr>
        <p:spPr>
          <a:xfrm>
            <a:off x="877824" y="1874519"/>
            <a:ext cx="749808" cy="749808"/>
          </a:xfrm>
          <a:prstGeom prst="ellipse">
            <a:avLst/>
          </a:prstGeom>
          <a:solidFill>
            <a:srgbClr val="755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824" y="2039112"/>
            <a:ext cx="749808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2788920"/>
            <a:ext cx="178308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82745"/>
                </a:solidFill>
                <a:latin typeface="Aptos"/>
              </a:rPr>
              <a:t>Research concept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3163824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30" b="0">
                <a:solidFill>
                  <a:srgbClr val="636D82"/>
                </a:solidFill>
                <a:latin typeface="Aptos"/>
              </a:rPr>
              <a:t>User-entered scientific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093976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8463C7"/>
                </a:solidFill>
                <a:latin typeface="Aptos"/>
              </a:rPr>
              <a:t>→</a:t>
            </a:r>
          </a:p>
        </p:txBody>
      </p:sp>
      <p:sp>
        <p:nvSpPr>
          <p:cNvPr id="10" name="Oval 9"/>
          <p:cNvSpPr/>
          <p:nvPr/>
        </p:nvSpPr>
        <p:spPr>
          <a:xfrm>
            <a:off x="2825496" y="1874519"/>
            <a:ext cx="749808" cy="749808"/>
          </a:xfrm>
          <a:prstGeom prst="ellipse">
            <a:avLst/>
          </a:prstGeom>
          <a:solidFill>
            <a:srgbClr val="846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25496" y="2039112"/>
            <a:ext cx="749808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95144" y="2788920"/>
            <a:ext cx="178308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lang="en-US" sz="1400" b="1" dirty="0">
                <a:solidFill>
                  <a:srgbClr val="182745"/>
                </a:solidFill>
                <a:latin typeface="Aptos"/>
              </a:rPr>
              <a:t>Normalize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95144" y="3163824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30" b="0" dirty="0">
                <a:solidFill>
                  <a:srgbClr val="636D82"/>
                </a:solidFill>
                <a:latin typeface="Aptos"/>
              </a:rPr>
              <a:t>Termi</a:t>
            </a:r>
            <a:r>
              <a:rPr lang="en-US" sz="1030" b="0" dirty="0">
                <a:solidFill>
                  <a:srgbClr val="636D82"/>
                </a:solidFill>
                <a:latin typeface="Aptos"/>
              </a:rPr>
              <a:t>nology + spelling</a:t>
            </a:r>
            <a:endParaRPr sz="1030" b="0" dirty="0">
              <a:solidFill>
                <a:srgbClr val="636D82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959352" y="2093976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8463C7"/>
                </a:solidFill>
                <a:latin typeface="Aptos"/>
              </a:rPr>
              <a:t>→</a:t>
            </a:r>
          </a:p>
        </p:txBody>
      </p:sp>
      <p:sp>
        <p:nvSpPr>
          <p:cNvPr id="15" name="Oval 14"/>
          <p:cNvSpPr/>
          <p:nvPr/>
        </p:nvSpPr>
        <p:spPr>
          <a:xfrm>
            <a:off x="4773168" y="1874519"/>
            <a:ext cx="749808" cy="749808"/>
          </a:xfrm>
          <a:prstGeom prst="ellipse">
            <a:avLst/>
          </a:prstGeom>
          <a:solidFill>
            <a:srgbClr val="947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73168" y="2039112"/>
            <a:ext cx="749808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42816" y="2788920"/>
            <a:ext cx="178308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82745"/>
                </a:solidFill>
                <a:latin typeface="Aptos"/>
              </a:rPr>
              <a:t>TF-IDF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42816" y="3163824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30" b="0">
                <a:solidFill>
                  <a:srgbClr val="636D82"/>
                </a:solidFill>
                <a:latin typeface="Aptos"/>
              </a:rPr>
              <a:t>Weight distinctive terms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07024" y="2093976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8463C7"/>
                </a:solidFill>
                <a:latin typeface="Aptos"/>
              </a:rPr>
              <a:t>→</a:t>
            </a:r>
          </a:p>
        </p:txBody>
      </p:sp>
      <p:sp>
        <p:nvSpPr>
          <p:cNvPr id="20" name="Oval 19"/>
          <p:cNvSpPr/>
          <p:nvPr/>
        </p:nvSpPr>
        <p:spPr>
          <a:xfrm>
            <a:off x="6720840" y="1874519"/>
            <a:ext cx="749808" cy="749808"/>
          </a:xfrm>
          <a:prstGeom prst="ellipse">
            <a:avLst/>
          </a:prstGeom>
          <a:solidFill>
            <a:srgbClr val="A48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20840" y="2039112"/>
            <a:ext cx="749808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0488" y="2808767"/>
            <a:ext cx="1783080" cy="30777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lang="en-US" sz="1400" b="1">
                <a:solidFill>
                  <a:srgbClr val="182745"/>
                </a:solidFill>
                <a:latin typeface="Aptos"/>
              </a:rPr>
              <a:t>Compare Projects</a:t>
            </a:r>
            <a:endParaRPr sz="1400" b="1" dirty="0">
              <a:solidFill>
                <a:srgbClr val="182745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190488" y="3163824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30" b="0" dirty="0">
                <a:solidFill>
                  <a:srgbClr val="636D82"/>
                </a:solidFill>
                <a:latin typeface="Aptos"/>
              </a:rPr>
              <a:t>Compare query to grants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54696" y="2093976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8463C7"/>
                </a:solidFill>
                <a:latin typeface="Aptos"/>
              </a:rPr>
              <a:t>→</a:t>
            </a:r>
          </a:p>
        </p:txBody>
      </p:sp>
      <p:sp>
        <p:nvSpPr>
          <p:cNvPr id="25" name="Oval 24"/>
          <p:cNvSpPr/>
          <p:nvPr/>
        </p:nvSpPr>
        <p:spPr>
          <a:xfrm>
            <a:off x="8668512" y="1874519"/>
            <a:ext cx="749808" cy="749808"/>
          </a:xfrm>
          <a:prstGeom prst="ellipse">
            <a:avLst/>
          </a:prstGeom>
          <a:solidFill>
            <a:srgbClr val="B099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68512" y="2039112"/>
            <a:ext cx="749808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16184" y="2039112"/>
            <a:ext cx="749808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79308" y="2760122"/>
            <a:ext cx="178308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400" b="1" dirty="0">
                <a:solidFill>
                  <a:srgbClr val="182745"/>
                </a:solidFill>
                <a:latin typeface="Aptos"/>
              </a:rPr>
              <a:t>Rank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5840" y="4343400"/>
            <a:ext cx="644652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1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207008" y="4526280"/>
            <a:ext cx="502920" cy="109728"/>
          </a:xfrm>
          <a:prstGeom prst="roundRect">
            <a:avLst/>
          </a:prstGeom>
          <a:solidFill>
            <a:srgbClr val="755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225296" y="4727448"/>
            <a:ext cx="6007608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82745"/>
                </a:solidFill>
                <a:latin typeface="Aptos"/>
              </a:rPr>
              <a:t>Key decision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25296" y="5221224"/>
            <a:ext cx="6007608" cy="29260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2739"/>
                </a:solidFill>
                <a:latin typeface="Aptos"/>
              </a:rPr>
              <a:t>Keep TF-IDF as the transparent foundation, then add scientific ranking signals when lexical overlap alone was not enough.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818120" y="4343400"/>
            <a:ext cx="329184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1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8019288" y="4526280"/>
            <a:ext cx="502920" cy="109728"/>
          </a:xfrm>
          <a:prstGeom prst="roundRect">
            <a:avLst/>
          </a:prstGeom>
          <a:solidFill>
            <a:srgbClr val="B099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037576" y="4727448"/>
            <a:ext cx="2852928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82745"/>
                </a:solidFill>
                <a:latin typeface="Aptos"/>
              </a:rPr>
              <a:t>Important limitation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37576" y="5221224"/>
            <a:ext cx="2852928" cy="29260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300" b="0" dirty="0">
                <a:solidFill>
                  <a:srgbClr val="1E2739"/>
                </a:solidFill>
                <a:latin typeface="Aptos"/>
              </a:rPr>
              <a:t>Relevance is not probability of funding.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01984" y="6428232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36D82"/>
                </a:solidFill>
                <a:latin typeface="Aptos"/>
              </a:rPr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DDFAE6A-E65E-D9C8-A0F4-49AE04F8FB5C}"/>
              </a:ext>
            </a:extLst>
          </p:cNvPr>
          <p:cNvSpPr txBox="1"/>
          <p:nvPr/>
        </p:nvSpPr>
        <p:spPr>
          <a:xfrm>
            <a:off x="8343900" y="3116544"/>
            <a:ext cx="1783080" cy="409343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lang="en-US" sz="1030" b="0">
                <a:solidFill>
                  <a:srgbClr val="636D82"/>
                </a:solidFill>
                <a:latin typeface="Aptos"/>
              </a:rPr>
              <a:t>Surface the strongest matches first</a:t>
            </a:r>
            <a:endParaRPr sz="1030" b="0" dirty="0">
              <a:solidFill>
                <a:srgbClr val="636D82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4452"/>
            <a:ext cx="10789920" cy="507831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700" b="1" dirty="0">
                <a:solidFill>
                  <a:srgbClr val="182745"/>
                </a:solidFill>
                <a:latin typeface="Aptos"/>
              </a:rPr>
              <a:t>From</a:t>
            </a:r>
            <a:r>
              <a:rPr lang="en-US" sz="2700" b="1" dirty="0">
                <a:solidFill>
                  <a:srgbClr val="182745"/>
                </a:solidFill>
                <a:latin typeface="Aptos"/>
              </a:rPr>
              <a:t> Model to a Usable Tool</a:t>
            </a:r>
            <a:endParaRPr sz="2700" b="1" dirty="0">
              <a:solidFill>
                <a:srgbClr val="182745"/>
              </a:solidFill>
              <a:latin typeface="Apto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58368" y="1033271"/>
            <a:ext cx="841248" cy="59436"/>
          </a:xfrm>
          <a:prstGeom prst="roundRect">
            <a:avLst/>
          </a:prstGeom>
          <a:solidFill>
            <a:srgbClr val="755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226855"/>
            <a:ext cx="10789920" cy="30777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r>
              <a:rPr lang="en-US" sz="1400" dirty="0"/>
              <a:t>The goal was useful, explainable research discovery, not funding prediction</a:t>
            </a:r>
            <a:endParaRPr sz="1400" b="0" dirty="0">
              <a:solidFill>
                <a:srgbClr val="636D82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38404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1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78408" y="2011680"/>
            <a:ext cx="502920" cy="109728"/>
          </a:xfrm>
          <a:prstGeom prst="roundRect">
            <a:avLst/>
          </a:prstGeom>
          <a:solidFill>
            <a:srgbClr val="755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2241616"/>
            <a:ext cx="3401568" cy="353943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en-US" sz="1700" b="1" dirty="0">
                <a:solidFill>
                  <a:srgbClr val="182745"/>
                </a:solidFill>
                <a:latin typeface="Aptos"/>
              </a:rPr>
              <a:t>What the Model Does</a:t>
            </a:r>
            <a:endParaRPr sz="1700" b="1" dirty="0">
              <a:solidFill>
                <a:srgbClr val="182745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78408" y="2753329"/>
            <a:ext cx="3401568" cy="1585049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Surface scientifically relevant projects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Make the ranking understandable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Avoid misleading funding predictions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82745"/>
                </a:solidFill>
              </a:rPr>
              <a:t>Focus: useful retrieval, not perfect prediction</a:t>
            </a:r>
          </a:p>
          <a:p>
            <a:pPr algn="l"/>
            <a:endParaRPr sz="1300" b="0" dirty="0">
              <a:solidFill>
                <a:srgbClr val="1E2739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919472" y="1828800"/>
            <a:ext cx="64922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1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372100" y="2046027"/>
            <a:ext cx="502920" cy="109728"/>
          </a:xfrm>
          <a:prstGeom prst="roundRect">
            <a:avLst/>
          </a:prstGeom>
          <a:solidFill>
            <a:srgbClr val="846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38928" y="2241616"/>
            <a:ext cx="6053327" cy="353943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en-US" sz="1700" b="1" dirty="0">
                <a:solidFill>
                  <a:srgbClr val="182745"/>
                </a:solidFill>
                <a:latin typeface="Aptos"/>
              </a:rPr>
              <a:t>What makes the Tool Usable</a:t>
            </a:r>
            <a:endParaRPr sz="1700" b="1" dirty="0">
              <a:solidFill>
                <a:srgbClr val="182745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120640" y="2892836"/>
            <a:ext cx="6053327" cy="136960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Clear relevance scores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Why-it-matched explanations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Shared concepts and scientific context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Comparable organizations and programs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Shortlisting, comparison, and starting points</a:t>
            </a:r>
          </a:p>
          <a:p>
            <a:pPr algn="l"/>
            <a:endParaRPr sz="1300" b="0" dirty="0">
              <a:solidFill>
                <a:srgbClr val="1E2739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743200" y="5806440"/>
            <a:ext cx="6766560" cy="420624"/>
          </a:xfrm>
          <a:prstGeom prst="roundRect">
            <a:avLst/>
          </a:prstGeom>
          <a:solidFill>
            <a:srgbClr val="E8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16352" y="5864536"/>
            <a:ext cx="6620256" cy="276999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200" b="1" dirty="0">
                <a:solidFill>
                  <a:srgbClr val="182745"/>
                </a:solidFill>
                <a:latin typeface="Aptos"/>
              </a:rPr>
              <a:t>LIVE 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01984" y="6428232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36D82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82745"/>
                </a:solidFill>
                <a:latin typeface="Aptos"/>
              </a:rPr>
              <a:t>Where could GrantScopeAI go next?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033271"/>
            <a:ext cx="841248" cy="59436"/>
          </a:xfrm>
          <a:prstGeom prst="roundRect">
            <a:avLst/>
          </a:prstGeom>
          <a:solidFill>
            <a:srgbClr val="755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36D82"/>
                </a:solidFill>
                <a:latin typeface="Aptos"/>
              </a:rPr>
              <a:t>The next version would move from historical orientation toward richer scientific and funding discovery.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260604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1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86968" y="2011680"/>
            <a:ext cx="502920" cy="109728"/>
          </a:xfrm>
          <a:prstGeom prst="roundRect">
            <a:avLst/>
          </a:prstGeom>
          <a:solidFill>
            <a:srgbClr val="755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2212848"/>
            <a:ext cx="2167128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82745"/>
                </a:solidFill>
                <a:latin typeface="Aptos"/>
              </a:rPr>
              <a:t>Live opportunities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3410372"/>
            <a:ext cx="2167128" cy="1015663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200" b="0" dirty="0">
                <a:solidFill>
                  <a:srgbClr val="1E2739"/>
                </a:solidFill>
                <a:latin typeface="Aptos"/>
              </a:rPr>
              <a:t>Integrate current grant calls, deadlines and eligibility.
Historical discovery</a:t>
            </a:r>
            <a:r>
              <a:rPr lang="en-US" sz="1200" b="0" dirty="0">
                <a:solidFill>
                  <a:srgbClr val="1E2739"/>
                </a:solidFill>
                <a:latin typeface="Aptos"/>
              </a:rPr>
              <a:t> to</a:t>
            </a:r>
            <a:r>
              <a:rPr sz="1200" b="0" dirty="0">
                <a:solidFill>
                  <a:srgbClr val="1E2739"/>
                </a:solidFill>
                <a:latin typeface="Aptos"/>
              </a:rPr>
              <a:t> actionable funding search.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828800"/>
            <a:ext cx="260604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1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675887" y="2011680"/>
            <a:ext cx="502920" cy="109728"/>
          </a:xfrm>
          <a:prstGeom prst="roundRect">
            <a:avLst/>
          </a:prstGeom>
          <a:solidFill>
            <a:srgbClr val="846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94176" y="2212848"/>
            <a:ext cx="2167128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82745"/>
                </a:solidFill>
                <a:latin typeface="Aptos"/>
              </a:rPr>
              <a:t>Scientific literature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94176" y="2706624"/>
            <a:ext cx="2167128" cy="24231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200" b="0" dirty="0">
                <a:solidFill>
                  <a:srgbClr val="1E2739"/>
                </a:solidFill>
                <a:latin typeface="Aptos"/>
              </a:rPr>
              <a:t>Connect grants with publications, authors and research outputs.
Start with metadata/abstracts; full text raises licensing and paywall constraints.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828800"/>
            <a:ext cx="260604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1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64807" y="2011680"/>
            <a:ext cx="502920" cy="109728"/>
          </a:xfrm>
          <a:prstGeom prst="roundRect">
            <a:avLst/>
          </a:prstGeom>
          <a:solidFill>
            <a:srgbClr val="A48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3096" y="2212848"/>
            <a:ext cx="2167128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82745"/>
                </a:solidFill>
                <a:latin typeface="Aptos"/>
              </a:rPr>
              <a:t>Semantic retrieval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2706624"/>
            <a:ext cx="2167128" cy="24231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E2739"/>
                </a:solidFill>
                <a:latin typeface="Aptos"/>
              </a:rPr>
              <a:t>Compare the current interpretable TF-IDF hybrid with embeddings or lexical + semantic retrieval.
Test improvement rather than assume complexity is better.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1828800"/>
            <a:ext cx="260604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1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253728" y="2011680"/>
            <a:ext cx="502920" cy="109728"/>
          </a:xfrm>
          <a:prstGeom prst="roundRect">
            <a:avLst/>
          </a:prstGeom>
          <a:solidFill>
            <a:srgbClr val="BEA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72016" y="2212848"/>
            <a:ext cx="2167128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82745"/>
                </a:solidFill>
                <a:latin typeface="Aptos"/>
              </a:rPr>
              <a:t>Human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72016" y="2706624"/>
            <a:ext cx="2167128" cy="24231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E2739"/>
                </a:solidFill>
                <a:latin typeface="Aptos"/>
              </a:rPr>
              <a:t>Build a larger researcher-labelled relevance benchmark.
Evaluate whether domain experts consistently find the rankings useful.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796959"/>
            <a:ext cx="8503920" cy="384721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lang="en-US" sz="1900" b="1" dirty="0">
                <a:solidFill>
                  <a:srgbClr val="182745"/>
                </a:solidFill>
                <a:latin typeface="Aptos"/>
              </a:rPr>
              <a:t>From the past to the current and the Future</a:t>
            </a:r>
            <a:endParaRPr sz="1900" b="1" dirty="0">
              <a:solidFill>
                <a:srgbClr val="182745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301984" y="6428232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36D82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7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1920240"/>
            <a:ext cx="8503920" cy="685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2800" b="0">
                <a:solidFill>
                  <a:srgbClr val="E1E5EF"/>
                </a:solidFill>
                <a:latin typeface="Aptos"/>
              </a:rPr>
              <a:t>Questions?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40680" y="3657600"/>
            <a:ext cx="1325880" cy="64008"/>
          </a:xfrm>
          <a:prstGeom prst="roundRect">
            <a:avLst/>
          </a:prstGeom>
          <a:solidFill>
            <a:srgbClr val="755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301984" y="6428232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36D82"/>
                </a:solidFill>
                <a:latin typeface="Aptos"/>
              </a:rPr>
              <a:t>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351BDA-1F8F-0599-6995-E090ABCD101A}"/>
              </a:ext>
            </a:extLst>
          </p:cNvPr>
          <p:cNvSpPr txBox="1"/>
          <p:nvPr/>
        </p:nvSpPr>
        <p:spPr>
          <a:xfrm>
            <a:off x="4346658" y="4425696"/>
            <a:ext cx="56692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200" b="1" dirty="0">
                <a:solidFill>
                  <a:srgbClr val="FFFFFF"/>
                </a:solidFill>
                <a:latin typeface="Aptos"/>
              </a:rPr>
              <a:t>Kyle Haustein • </a:t>
            </a:r>
            <a:r>
              <a:rPr sz="1200" b="1" dirty="0" err="1">
                <a:solidFill>
                  <a:srgbClr val="FFFFFF"/>
                </a:solidFill>
                <a:latin typeface="Aptos"/>
              </a:rPr>
              <a:t>Ironhack</a:t>
            </a:r>
            <a:r>
              <a:rPr sz="1200" b="1" dirty="0">
                <a:solidFill>
                  <a:srgbClr val="FFFFFF"/>
                </a:solidFill>
                <a:latin typeface="Aptos"/>
              </a:rPr>
              <a:t> Data Analytics Bootcamp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1284</TotalTime>
  <Words>812</Words>
  <Application>Microsoft Office PowerPoint</Application>
  <PresentationFormat>Widescreen</PresentationFormat>
  <Paragraphs>170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Kyle Haustein</dc:creator>
  <cp:keywords/>
  <dc:description>generated using python-pptx</dc:description>
  <cp:lastModifiedBy>Kyle Haustein</cp:lastModifiedBy>
  <cp:revision>3</cp:revision>
  <dcterms:created xsi:type="dcterms:W3CDTF">2013-01-27T09:14:16Z</dcterms:created>
  <dcterms:modified xsi:type="dcterms:W3CDTF">2026-08-11T09:37:44Z</dcterms:modified>
  <cp:category/>
</cp:coreProperties>
</file>