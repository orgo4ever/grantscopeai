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1" r:id="rId7"/>
    <p:sldId id="260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D82"/>
    <a:srgbClr val="1827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7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1163961"/>
            <a:ext cx="6400800" cy="70788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4000" b="1" dirty="0">
                <a:solidFill>
                  <a:srgbClr val="FFFFFF"/>
                </a:solidFill>
                <a:latin typeface="Aptos"/>
              </a:rPr>
              <a:t>GrantScope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965960"/>
            <a:ext cx="5806440" cy="8686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300" b="0" dirty="0">
                <a:solidFill>
                  <a:srgbClr val="FFFFFF"/>
                </a:solidFill>
                <a:latin typeface="Aptos"/>
              </a:rPr>
              <a:t>From a research idea to the funded research landscape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4672" y="3063240"/>
            <a:ext cx="1051560" cy="73152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3337560"/>
            <a:ext cx="5669280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0" dirty="0">
                <a:solidFill>
                  <a:srgbClr val="E1E5EF"/>
                </a:solidFill>
                <a:latin typeface="Aptos"/>
              </a:rPr>
              <a:t>Scientific funding landscape analysis
+ interpretable research discovery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1325880"/>
            <a:ext cx="4069080" cy="932688"/>
          </a:xfrm>
          <a:prstGeom prst="roundRect">
            <a:avLst/>
          </a:prstGeom>
          <a:solidFill>
            <a:srgbClr val="25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52360" y="1463039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Funding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80136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E1E5EF"/>
                </a:solidFill>
                <a:latin typeface="Aptos"/>
              </a:rPr>
              <a:t>Explore trends, topics, programmes and organisations.</a:t>
            </a:r>
          </a:p>
        </p:txBody>
      </p:sp>
      <p:sp>
        <p:nvSpPr>
          <p:cNvPr id="9" name="Oval 8"/>
          <p:cNvSpPr/>
          <p:nvPr/>
        </p:nvSpPr>
        <p:spPr>
          <a:xfrm>
            <a:off x="6720840" y="1554480"/>
            <a:ext cx="457200" cy="457200"/>
          </a:xfrm>
          <a:prstGeom prst="ellipse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20840" y="162763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2743200"/>
            <a:ext cx="4069080" cy="932688"/>
          </a:xfrm>
          <a:prstGeom prst="roundRect">
            <a:avLst/>
          </a:prstGeom>
          <a:solidFill>
            <a:srgbClr val="25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52360" y="2880360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Research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321868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E1E5EF"/>
                </a:solidFill>
                <a:latin typeface="Aptos"/>
              </a:rPr>
              <a:t>Enter a concept and retrieve comparable funded projects.</a:t>
            </a:r>
          </a:p>
        </p:txBody>
      </p:sp>
      <p:sp>
        <p:nvSpPr>
          <p:cNvPr id="14" name="Oval 13"/>
          <p:cNvSpPr/>
          <p:nvPr/>
        </p:nvSpPr>
        <p:spPr>
          <a:xfrm>
            <a:off x="6720840" y="2971800"/>
            <a:ext cx="457200" cy="457200"/>
          </a:xfrm>
          <a:prstGeom prst="ellipse">
            <a:avLst/>
          </a:prstGeom>
          <a:solidFill>
            <a:srgbClr val="947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20840" y="3044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4160520"/>
            <a:ext cx="4069080" cy="932688"/>
          </a:xfrm>
          <a:prstGeom prst="roundRect">
            <a:avLst/>
          </a:prstGeom>
          <a:solidFill>
            <a:srgbClr val="25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52360" y="4297680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Decision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63600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E1E5EF"/>
                </a:solidFill>
                <a:latin typeface="Aptos"/>
              </a:rPr>
              <a:t>Turn ranked matches into useful starting points.</a:t>
            </a:r>
          </a:p>
        </p:txBody>
      </p:sp>
      <p:sp>
        <p:nvSpPr>
          <p:cNvPr id="19" name="Oval 18"/>
          <p:cNvSpPr/>
          <p:nvPr/>
        </p:nvSpPr>
        <p:spPr>
          <a:xfrm>
            <a:off x="6720840" y="4389120"/>
            <a:ext cx="457200" cy="457200"/>
          </a:xfrm>
          <a:prstGeom prst="ellipse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20840" y="446227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9893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Aptos"/>
              </a:rPr>
              <a:t>Kyle Haustein • </a:t>
            </a:r>
            <a:r>
              <a:rPr sz="1200" b="1" dirty="0" err="1">
                <a:solidFill>
                  <a:srgbClr val="FFFFFF"/>
                </a:solidFill>
                <a:latin typeface="Aptos"/>
              </a:rPr>
              <a:t>Ironhack</a:t>
            </a:r>
            <a:r>
              <a:rPr sz="1200" b="1" dirty="0">
                <a:solidFill>
                  <a:srgbClr val="FFFFFF"/>
                </a:solidFill>
                <a:latin typeface="Aptos"/>
              </a:rPr>
              <a:t> Data Analytics Bootcamp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 dirty="0">
                <a:solidFill>
                  <a:srgbClr val="182745"/>
                </a:solidFill>
                <a:latin typeface="Aptos"/>
              </a:rPr>
              <a:t>Why I Built GrantScope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A final project designed around the kind of scientific-data work I want to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3756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32688" y="20116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0976" y="2212848"/>
            <a:ext cx="2898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1  Scientific 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706624"/>
            <a:ext cx="2898648" cy="23317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2739"/>
                </a:solidFill>
                <a:latin typeface="Aptos"/>
              </a:rPr>
              <a:t>Chemistry and research gave me a user perspective on how researchers explore projects, literature and funding.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828800"/>
            <a:ext cx="333756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617720" y="201168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6008" y="2212848"/>
            <a:ext cx="2898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2  New technical toolkit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706624"/>
            <a:ext cx="2898648" cy="23317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2739"/>
                </a:solidFill>
                <a:latin typeface="Aptos"/>
              </a:rPr>
              <a:t>The bootcamp added Python, data integration, visualization, machine learning/NLP and app development.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828800"/>
            <a:ext cx="333756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02752" y="2011680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2212848"/>
            <a:ext cx="2898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3  Future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426208"/>
            <a:ext cx="2898648" cy="8925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I wanted to combine both into a realistic scientific-data and AI decision-support product</a:t>
            </a:r>
            <a:r>
              <a:rPr lang="en-US" sz="1300" b="0" dirty="0">
                <a:solidFill>
                  <a:srgbClr val="1E2739"/>
                </a:solidFill>
                <a:latin typeface="Aptos"/>
              </a:rPr>
              <a:t>, </a:t>
            </a:r>
            <a:r>
              <a:rPr sz="1300" b="0" dirty="0">
                <a:solidFill>
                  <a:srgbClr val="1E2739"/>
                </a:solidFill>
                <a:latin typeface="Aptos"/>
              </a:rPr>
              <a:t>not a generic classroom exercise.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5623560"/>
            <a:ext cx="63093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99232" y="5650992"/>
            <a:ext cx="61630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Project choice = past expertise + new skills + future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417912-CAA8-15B7-35CB-C8717318D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31A0DB4-B2E2-C304-63F1-D0073AFAC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647" y="4414435"/>
            <a:ext cx="2414225" cy="212768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D3C1CD4-154D-3767-15A3-42D5F1F9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02" y="1670026"/>
            <a:ext cx="2414225" cy="212768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A610D21-96A5-CC66-D817-CABE04BB2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9285" y="1898378"/>
            <a:ext cx="2414225" cy="212768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20382D-28C8-6372-B07F-20353BFE159D}"/>
              </a:ext>
            </a:extLst>
          </p:cNvPr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2700" b="1" dirty="0">
                <a:solidFill>
                  <a:srgbClr val="182745"/>
                </a:solidFill>
                <a:latin typeface="Aptos"/>
              </a:rPr>
              <a:t>Where does GrantScope fit?</a:t>
            </a:r>
            <a:endParaRPr sz="2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37299BC-F6DD-494D-CE22-B7DC9E9C0E5E}"/>
              </a:ext>
            </a:extLst>
          </p:cNvPr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51C429-4F0D-24A7-E279-2DDE2D41EC05}"/>
              </a:ext>
            </a:extLst>
          </p:cNvPr>
          <p:cNvSpPr txBox="1"/>
          <p:nvPr/>
        </p:nvSpPr>
        <p:spPr>
          <a:xfrm>
            <a:off x="658368" y="1129909"/>
            <a:ext cx="1078992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0" dirty="0">
                <a:solidFill>
                  <a:srgbClr val="636D82"/>
                </a:solidFill>
                <a:latin typeface="Aptos"/>
              </a:rPr>
              <a:t>Research funding is one step in a much larger scientific workflow.</a:t>
            </a:r>
            <a:endParaRPr sz="140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DD9DC2-3BEE-FAC0-9163-22E510EC4827}"/>
              </a:ext>
            </a:extLst>
          </p:cNvPr>
          <p:cNvSpPr/>
          <p:nvPr/>
        </p:nvSpPr>
        <p:spPr>
          <a:xfrm>
            <a:off x="932688" y="1843514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EE5F5C-3851-F6D9-CC6C-4C216E028757}"/>
              </a:ext>
            </a:extLst>
          </p:cNvPr>
          <p:cNvSpPr txBox="1"/>
          <p:nvPr/>
        </p:nvSpPr>
        <p:spPr>
          <a:xfrm>
            <a:off x="756009" y="2232839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1. Research Question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EE3081D-B3CE-4228-B285-5BAAE184991D}"/>
              </a:ext>
            </a:extLst>
          </p:cNvPr>
          <p:cNvSpPr/>
          <p:nvPr/>
        </p:nvSpPr>
        <p:spPr>
          <a:xfrm>
            <a:off x="4457647" y="1842562"/>
            <a:ext cx="2316689" cy="2031761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B883C5-16D5-F3FB-623F-29CFB3AF2814}"/>
              </a:ext>
            </a:extLst>
          </p:cNvPr>
          <p:cNvSpPr/>
          <p:nvPr/>
        </p:nvSpPr>
        <p:spPr>
          <a:xfrm>
            <a:off x="4617720" y="201168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E90527-A95B-2DC8-FCA6-AF5279950656}"/>
              </a:ext>
            </a:extLst>
          </p:cNvPr>
          <p:cNvSpPr txBox="1"/>
          <p:nvPr/>
        </p:nvSpPr>
        <p:spPr>
          <a:xfrm>
            <a:off x="4568163" y="2232839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2. Explore Existing Work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EE8D648-C28F-1A5F-7AA0-1740C89615AB}"/>
              </a:ext>
            </a:extLst>
          </p:cNvPr>
          <p:cNvSpPr/>
          <p:nvPr/>
        </p:nvSpPr>
        <p:spPr>
          <a:xfrm>
            <a:off x="8403336" y="2066544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998D12-8E28-4A43-CE89-6B95EF9276C3}"/>
              </a:ext>
            </a:extLst>
          </p:cNvPr>
          <p:cNvSpPr txBox="1"/>
          <p:nvPr/>
        </p:nvSpPr>
        <p:spPr>
          <a:xfrm>
            <a:off x="8302752" y="2358274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3. Find Funding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132095-A197-CB3C-1EE5-10A4428E44D6}"/>
              </a:ext>
            </a:extLst>
          </p:cNvPr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2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CB298AF-C8E9-B7A6-C9D1-C4A23E233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17" y="4414435"/>
            <a:ext cx="2356210" cy="2255154"/>
          </a:xfrm>
          <a:prstGeom prst="rect">
            <a:avLst/>
          </a:prstGeom>
        </p:spPr>
      </p:pic>
      <p:sp>
        <p:nvSpPr>
          <p:cNvPr id="23" name="Rounded Rectangle 5">
            <a:extLst>
              <a:ext uri="{FF2B5EF4-FFF2-40B4-BE49-F238E27FC236}">
                <a16:creationId xmlns:a16="http://schemas.microsoft.com/office/drawing/2014/main" id="{E0F1D9FB-A8B9-4E9F-642B-D0DE5FEFE16F}"/>
              </a:ext>
            </a:extLst>
          </p:cNvPr>
          <p:cNvSpPr/>
          <p:nvPr/>
        </p:nvSpPr>
        <p:spPr>
          <a:xfrm>
            <a:off x="932688" y="4622234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17D21E-09EA-3226-280F-3A13320463AE}"/>
              </a:ext>
            </a:extLst>
          </p:cNvPr>
          <p:cNvSpPr txBox="1"/>
          <p:nvPr/>
        </p:nvSpPr>
        <p:spPr>
          <a:xfrm>
            <a:off x="756009" y="4833642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4. Develop Proposal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9BF6D6-2918-9724-C65F-4EBEF11A00B6}"/>
              </a:ext>
            </a:extLst>
          </p:cNvPr>
          <p:cNvSpPr txBox="1"/>
          <p:nvPr/>
        </p:nvSpPr>
        <p:spPr>
          <a:xfrm>
            <a:off x="4568163" y="4866684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5. Conduct Research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31" name="Rounded Rectangle 9">
            <a:extLst>
              <a:ext uri="{FF2B5EF4-FFF2-40B4-BE49-F238E27FC236}">
                <a16:creationId xmlns:a16="http://schemas.microsoft.com/office/drawing/2014/main" id="{5F72BC41-70AB-ADE1-F5DC-C82D5DD10BE0}"/>
              </a:ext>
            </a:extLst>
          </p:cNvPr>
          <p:cNvSpPr/>
          <p:nvPr/>
        </p:nvSpPr>
        <p:spPr>
          <a:xfrm>
            <a:off x="4636008" y="4622234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12E130D-0DD6-6B43-6113-54655E6C4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0" y="4349508"/>
            <a:ext cx="2414225" cy="212768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09448447-9F29-9062-85CD-90E20D1608DE}"/>
              </a:ext>
            </a:extLst>
          </p:cNvPr>
          <p:cNvSpPr txBox="1"/>
          <p:nvPr/>
        </p:nvSpPr>
        <p:spPr>
          <a:xfrm>
            <a:off x="8403336" y="4833641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6. Publish &amp; Communicate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0C73CC9-3E73-3960-B53A-DD7A8034C9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336" y="4562726"/>
            <a:ext cx="591363" cy="195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326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82745"/>
                </a:solidFill>
                <a:latin typeface="Aptos"/>
              </a:rPr>
              <a:t>The data exists. The context is fragmented.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Three complementary sources answer different parts of the researcher's question.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799"/>
            <a:ext cx="3017520" cy="1371601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78408" y="20116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71699"/>
            <a:ext cx="2578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 dirty="0">
                <a:solidFill>
                  <a:srgbClr val="182745"/>
                </a:solidFill>
                <a:latin typeface="Aptos"/>
              </a:rPr>
              <a:t>NSF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2706624"/>
            <a:ext cx="2578608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U.S. funded research
Historical awards and project abstracts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91840"/>
            <a:ext cx="3017520" cy="1152144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78408" y="347472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3630168"/>
            <a:ext cx="2578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 dirty="0">
                <a:solidFill>
                  <a:srgbClr val="182745"/>
                </a:solidFill>
                <a:latin typeface="Aptos"/>
              </a:rPr>
              <a:t>CORDIS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4169664"/>
            <a:ext cx="2578608" cy="4571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Horizon Europe funded research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571999"/>
            <a:ext cx="3017520" cy="1433945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78408" y="4754880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6695" y="4911159"/>
            <a:ext cx="2578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 dirty="0" err="1">
                <a:solidFill>
                  <a:srgbClr val="182745"/>
                </a:solidFill>
                <a:latin typeface="Aptos"/>
              </a:rPr>
              <a:t>OpenAlex</a:t>
            </a:r>
            <a:endParaRPr sz="1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96695" y="5449824"/>
            <a:ext cx="2578608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Publication activity
Scientific momentum and 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2148840"/>
            <a:ext cx="6583680" cy="233172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37760" y="2514600"/>
            <a:ext cx="5852160" cy="8229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2800" b="1" dirty="0">
                <a:solidFill>
                  <a:srgbClr val="182745"/>
                </a:solidFill>
                <a:latin typeface="Aptos"/>
              </a:rPr>
              <a:t>Where does my
research idea fit?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554337"/>
            <a:ext cx="5212080" cy="55399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0" dirty="0">
                <a:solidFill>
                  <a:srgbClr val="1E2739"/>
                </a:solidFill>
                <a:latin typeface="Aptos"/>
              </a:rPr>
              <a:t>GrantScope connects funding history with scientific activity instead of treating each source as an isolated dataset.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892040"/>
            <a:ext cx="160020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02352" y="4919472"/>
            <a:ext cx="145389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funding history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92040"/>
            <a:ext cx="178308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76872" y="4919472"/>
            <a:ext cx="163677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scientific activity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4892040"/>
            <a:ext cx="17373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88552" y="4919472"/>
            <a:ext cx="15910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research 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82745"/>
                </a:solidFill>
                <a:latin typeface="Aptos"/>
              </a:rPr>
              <a:t>Building a trustworthy research landscape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226855"/>
            <a:ext cx="1078992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 dirty="0">
                <a:solidFill>
                  <a:srgbClr val="636D82"/>
                </a:solidFill>
                <a:latin typeface="Aptos"/>
              </a:rPr>
              <a:t>The important work was deciding what to harmonize</a:t>
            </a:r>
            <a:r>
              <a:rPr lang="en-US" sz="1400" b="0" dirty="0">
                <a:solidFill>
                  <a:srgbClr val="636D82"/>
                </a:solidFill>
                <a:latin typeface="Aptos"/>
              </a:rPr>
              <a:t> </a:t>
            </a:r>
            <a:r>
              <a:rPr sz="1400" b="0" dirty="0">
                <a:solidFill>
                  <a:srgbClr val="636D82"/>
                </a:solidFill>
                <a:latin typeface="Aptos"/>
              </a:rPr>
              <a:t>and what not 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52760" cy="224028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Acquire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NSF API
CORDIS bulk CSV
OpenAlex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6392" y="26151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 dirty="0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1024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deduplicate
normalize text
select funding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9864" y="26151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Harmonize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4496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common grant schema
controlled topic taxonomy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3336" y="26151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Validate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7968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quality rules
source checks
model catalogue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720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3100" b="1">
                <a:solidFill>
                  <a:srgbClr val="182745"/>
                </a:solidFill>
                <a:latin typeface="Aptos"/>
              </a:rPr>
              <a:t>3,339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07492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636D82"/>
                </a:solidFill>
                <a:latin typeface="Aptos"/>
              </a:rPr>
              <a:t>integrated grants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4709160"/>
            <a:ext cx="15087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16352" y="4736592"/>
            <a:ext cx="13624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2,664 NSF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4709160"/>
            <a:ext cx="15087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53712" y="4736592"/>
            <a:ext cx="13624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675 CORDIS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434840"/>
            <a:ext cx="45720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784848" y="461772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03136" y="4818888"/>
            <a:ext cx="4133087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Deliberate data-quality 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03136" y="5284617"/>
            <a:ext cx="4133087" cy="28469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 dirty="0">
                <a:solidFill>
                  <a:srgbClr val="1E2739"/>
                </a:solidFill>
                <a:latin typeface="Aptos"/>
              </a:rPr>
              <a:t>NSF remains USD; CORDIS remains EUR.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82745"/>
                </a:solidFill>
                <a:latin typeface="Aptos"/>
              </a:rPr>
              <a:t>From bootcamp concepts to one data product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The skills became stages of a single end-to-end workflow.</a:t>
            </a:r>
          </a:p>
        </p:txBody>
      </p:sp>
      <p:sp>
        <p:nvSpPr>
          <p:cNvPr id="5" name="Oval 4"/>
          <p:cNvSpPr/>
          <p:nvPr/>
        </p:nvSpPr>
        <p:spPr>
          <a:xfrm>
            <a:off x="1014984" y="1920240"/>
            <a:ext cx="749808" cy="749808"/>
          </a:xfrm>
          <a:prstGeom prst="ellipse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4984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NSF + OpenAlex
acquisition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9696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2916936" y="1920240"/>
            <a:ext cx="749808" cy="749808"/>
          </a:xfrm>
          <a:prstGeom prst="ellipse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16936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4016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Python / pandas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4016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cleaning +
harmonisation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4818888" y="1920240"/>
            <a:ext cx="749808" cy="749808"/>
          </a:xfrm>
          <a:prstGeom prst="ellipse">
            <a:avLst/>
          </a:prstGeom>
          <a:solidFill>
            <a:srgbClr val="947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18888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 dirty="0">
                <a:solidFill>
                  <a:srgbClr val="182745"/>
                </a:solidFill>
                <a:latin typeface="Aptos"/>
              </a:rPr>
              <a:t>EDA +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topic/source
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6720840" y="1920240"/>
            <a:ext cx="749808" cy="749808"/>
          </a:xfrm>
          <a:prstGeom prst="ellipse">
            <a:avLst/>
          </a:prstGeom>
          <a:solidFill>
            <a:srgbClr val="A48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ML / NLP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481075"/>
            <a:ext cx="1755648" cy="26161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 dirty="0">
                <a:solidFill>
                  <a:srgbClr val="636D82"/>
                </a:solidFill>
                <a:latin typeface="Aptos"/>
              </a:rPr>
              <a:t>TF-IDF </a:t>
            </a:r>
            <a:r>
              <a:rPr lang="en-US" sz="1100" dirty="0">
                <a:solidFill>
                  <a:srgbClr val="636D82"/>
                </a:solidFill>
                <a:latin typeface="Aptos"/>
              </a:rPr>
              <a:t> text similarity</a:t>
            </a:r>
            <a:endParaRPr sz="110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845552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8622792" y="1920240"/>
            <a:ext cx="749808" cy="749808"/>
          </a:xfrm>
          <a:prstGeom prst="ellipse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22792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9872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Tableau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9872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 dirty="0">
                <a:solidFill>
                  <a:srgbClr val="636D82"/>
                </a:solidFill>
                <a:latin typeface="Aptos"/>
              </a:rPr>
              <a:t>funding
landscape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4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30" name="Oval 29"/>
          <p:cNvSpPr/>
          <p:nvPr/>
        </p:nvSpPr>
        <p:spPr>
          <a:xfrm>
            <a:off x="10524744" y="1920240"/>
            <a:ext cx="749808" cy="749808"/>
          </a:xfrm>
          <a:prstGeom prst="ellipse">
            <a:avLst/>
          </a:prstGeom>
          <a:solidFill>
            <a:srgbClr val="BEA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24744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21824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Streamlit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1824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decision-support
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65960" y="5532120"/>
            <a:ext cx="822960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039112" y="5590216"/>
            <a:ext cx="8083296" cy="2769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82745"/>
                </a:solidFill>
                <a:latin typeface="Aptos"/>
              </a:rPr>
              <a:t>The concepts became stages of one usable product</a:t>
            </a:r>
            <a:r>
              <a:rPr lang="en-US" sz="1200" b="1" dirty="0">
                <a:solidFill>
                  <a:srgbClr val="182745"/>
                </a:solidFill>
                <a:latin typeface="Aptos"/>
              </a:rPr>
              <a:t>, </a:t>
            </a:r>
            <a:r>
              <a:rPr sz="1200" b="1" dirty="0">
                <a:solidFill>
                  <a:srgbClr val="182745"/>
                </a:solidFill>
                <a:latin typeface="Aptos"/>
              </a:rPr>
              <a:t>not isolated demonstrations.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2700" b="1" dirty="0">
                <a:solidFill>
                  <a:srgbClr val="182745"/>
                </a:solidFill>
                <a:latin typeface="Aptos"/>
              </a:rPr>
              <a:t>One project. Two different use cases.</a:t>
            </a:r>
            <a:endParaRPr sz="2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 dirty="0">
                <a:solidFill>
                  <a:srgbClr val="636D82"/>
                </a:solidFill>
                <a:latin typeface="Aptos"/>
              </a:rPr>
              <a:t>The interface followed the analytical question.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74519"/>
            <a:ext cx="498348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69848" y="205740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2295031"/>
            <a:ext cx="4544568" cy="33855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600" b="1" dirty="0">
                <a:solidFill>
                  <a:srgbClr val="182745"/>
                </a:solidFill>
              </a:rPr>
              <a:t>TABLEAU: Strategic Funding Landscape</a:t>
            </a:r>
            <a:endParaRPr sz="1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88136" y="3255145"/>
            <a:ext cx="4544568" cy="160043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lvl="0"/>
            <a:r>
              <a:rPr lang="en-US" sz="1400" dirty="0"/>
              <a:t>Designed for broader analysis and presentation: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Funding and research trends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Topic momentum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Leading organizations and programs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Cross-source landscape overview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 Executive/stakeholder presentations</a:t>
            </a:r>
            <a:endParaRPr lang="en-US" sz="1400" dirty="0"/>
          </a:p>
          <a:p>
            <a:pPr algn="l"/>
            <a:endParaRPr sz="1400" b="0" dirty="0">
              <a:solidFill>
                <a:srgbClr val="1E2739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336792" y="1874519"/>
            <a:ext cx="498348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537959" y="205740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56248" y="2295031"/>
            <a:ext cx="4544568" cy="33855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600" b="1" dirty="0">
                <a:solidFill>
                  <a:srgbClr val="182745"/>
                </a:solidFill>
              </a:rPr>
              <a:t>STREAMLIT: Research Discovery Tool</a:t>
            </a:r>
            <a:endParaRPr sz="1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56248" y="3255145"/>
            <a:ext cx="4544568" cy="160043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400" dirty="0"/>
              <a:t>Designed for repeated researcher use: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Search from a research concept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Find comparable funded projects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Understand why projects matched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Identify organizations and programs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Shortlist and compare results</a:t>
            </a:r>
          </a:p>
          <a:p>
            <a:pPr algn="l"/>
            <a:endParaRPr sz="1400" b="0" dirty="0">
              <a:solidFill>
                <a:srgbClr val="1E2739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2700" b="1" dirty="0">
                <a:solidFill>
                  <a:srgbClr val="182745"/>
                </a:solidFill>
                <a:latin typeface="Aptos"/>
              </a:rPr>
              <a:t>How does GrantScope find relevant research</a:t>
            </a:r>
            <a:r>
              <a:rPr sz="2700" b="1" dirty="0">
                <a:solidFill>
                  <a:srgbClr val="182745"/>
                </a:solidFill>
                <a:latin typeface="Aptos"/>
              </a:rPr>
              <a:t>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226855"/>
            <a:ext cx="1078992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400" dirty="0">
                <a:solidFill>
                  <a:srgbClr val="636D82"/>
                </a:solidFill>
              </a:rPr>
              <a:t>The application compares a research idea with previously funded projects and ranks the strongest matches</a:t>
            </a:r>
            <a:r>
              <a:rPr sz="1400" b="0" dirty="0">
                <a:solidFill>
                  <a:srgbClr val="636D82"/>
                </a:solidFill>
                <a:latin typeface="Aptos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877824" y="1874519"/>
            <a:ext cx="749808" cy="749808"/>
          </a:xfrm>
          <a:prstGeom prst="ellipse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7824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2788920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82745"/>
                </a:solidFill>
                <a:latin typeface="Aptos"/>
              </a:rPr>
              <a:t>Research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>
                <a:solidFill>
                  <a:srgbClr val="636D82"/>
                </a:solidFill>
                <a:latin typeface="Aptos"/>
              </a:rPr>
              <a:t>User-entered scientific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2825496" y="1874519"/>
            <a:ext cx="749808" cy="749808"/>
          </a:xfrm>
          <a:prstGeom prst="ellipse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25496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5144" y="2788920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>
                <a:solidFill>
                  <a:srgbClr val="182745"/>
                </a:solidFill>
                <a:latin typeface="Aptos"/>
              </a:rPr>
              <a:t>Normalize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5144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 dirty="0">
                <a:solidFill>
                  <a:srgbClr val="636D82"/>
                </a:solidFill>
                <a:latin typeface="Aptos"/>
              </a:rPr>
              <a:t>Termi</a:t>
            </a:r>
            <a:r>
              <a:rPr lang="en-US" sz="1030" b="0" dirty="0">
                <a:solidFill>
                  <a:srgbClr val="636D82"/>
                </a:solidFill>
                <a:latin typeface="Aptos"/>
              </a:rPr>
              <a:t>nology + spelling</a:t>
            </a:r>
            <a:endParaRPr sz="103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959352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4773168" y="1874519"/>
            <a:ext cx="749808" cy="749808"/>
          </a:xfrm>
          <a:prstGeom prst="ellipse">
            <a:avLst/>
          </a:prstGeom>
          <a:solidFill>
            <a:srgbClr val="947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73168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42816" y="2788920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82745"/>
                </a:solidFill>
                <a:latin typeface="Aptos"/>
              </a:rPr>
              <a:t>TF-IDF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>
                <a:solidFill>
                  <a:srgbClr val="636D82"/>
                </a:solidFill>
                <a:latin typeface="Aptos"/>
              </a:rPr>
              <a:t>Weight distinctive terms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7024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6720840" y="1874519"/>
            <a:ext cx="749808" cy="749808"/>
          </a:xfrm>
          <a:prstGeom prst="ellipse">
            <a:avLst/>
          </a:prstGeom>
          <a:solidFill>
            <a:srgbClr val="A48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2808767"/>
            <a:ext cx="178308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400" b="1">
                <a:solidFill>
                  <a:srgbClr val="182745"/>
                </a:solidFill>
                <a:latin typeface="Aptos"/>
              </a:rPr>
              <a:t>Compare Projects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190488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 dirty="0">
                <a:solidFill>
                  <a:srgbClr val="636D82"/>
                </a:solidFill>
                <a:latin typeface="Aptos"/>
              </a:rPr>
              <a:t>Compare query to grants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4696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8668512" y="1874519"/>
            <a:ext cx="749808" cy="749808"/>
          </a:xfrm>
          <a:prstGeom prst="ellipse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68512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6184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9308" y="2760122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400" b="1" dirty="0">
                <a:solidFill>
                  <a:srgbClr val="182745"/>
                </a:solidFill>
                <a:latin typeface="Aptos"/>
              </a:rPr>
              <a:t>Rank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" y="4343399"/>
            <a:ext cx="6446520" cy="1402773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207008" y="45262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225296" y="4727448"/>
            <a:ext cx="6007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Key 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5296" y="5221224"/>
            <a:ext cx="6007608" cy="29260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Keep TF-IDF as the transparent foundation, </a:t>
            </a:r>
            <a:r>
              <a:rPr lang="en-US" sz="1300" b="0" dirty="0">
                <a:solidFill>
                  <a:srgbClr val="1E2739"/>
                </a:solidFill>
                <a:latin typeface="Aptos"/>
              </a:rPr>
              <a:t>With keywords for project ranking. </a:t>
            </a:r>
            <a:endParaRPr sz="1300" b="0" dirty="0">
              <a:solidFill>
                <a:srgbClr val="1E2739"/>
              </a:solidFill>
              <a:latin typeface="Aptos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7818120" y="4343400"/>
            <a:ext cx="329184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019288" y="4526280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37576" y="4727448"/>
            <a:ext cx="28529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Important limitation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7576" y="5221224"/>
            <a:ext cx="2852928" cy="29260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Relevance is not probability of funding.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DFAE6A-E65E-D9C8-A0F4-49AE04F8FB5C}"/>
              </a:ext>
            </a:extLst>
          </p:cNvPr>
          <p:cNvSpPr txBox="1"/>
          <p:nvPr/>
        </p:nvSpPr>
        <p:spPr>
          <a:xfrm>
            <a:off x="8343900" y="3116544"/>
            <a:ext cx="1783080" cy="40934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030" b="0">
                <a:solidFill>
                  <a:srgbClr val="636D82"/>
                </a:solidFill>
                <a:latin typeface="Aptos"/>
              </a:rPr>
              <a:t>Surface the strongest matches first</a:t>
            </a:r>
            <a:endParaRPr sz="103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E1A4C969-94D0-E54B-FCBB-BEFABCF005D9}"/>
              </a:ext>
            </a:extLst>
          </p:cNvPr>
          <p:cNvSpPr/>
          <p:nvPr/>
        </p:nvSpPr>
        <p:spPr>
          <a:xfrm>
            <a:off x="2712720" y="6190488"/>
            <a:ext cx="67665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C8A7C96-0139-86E7-8271-B2574C22AAF1}"/>
              </a:ext>
            </a:extLst>
          </p:cNvPr>
          <p:cNvSpPr txBox="1"/>
          <p:nvPr/>
        </p:nvSpPr>
        <p:spPr>
          <a:xfrm>
            <a:off x="2596896" y="6262300"/>
            <a:ext cx="6620256" cy="2769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82745"/>
                </a:solidFill>
                <a:latin typeface="Aptos"/>
              </a:rPr>
              <a:t>LIVE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 dirty="0">
                <a:solidFill>
                  <a:srgbClr val="182745"/>
                </a:solidFill>
                <a:latin typeface="Aptos"/>
              </a:rPr>
              <a:t>Where could GrantScope go next?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The next version would move from historical orientation toward richer scientific and funding discovery.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86968" y="20116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Live opportunities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3013396"/>
            <a:ext cx="2167128" cy="101566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1E2739"/>
                </a:solidFill>
                <a:latin typeface="Aptos"/>
              </a:rPr>
              <a:t>Integrate current grant calls, deadlines and eligibility.
Historical discovery</a:t>
            </a:r>
            <a:r>
              <a:rPr lang="en-US" sz="1200" b="0" dirty="0">
                <a:solidFill>
                  <a:srgbClr val="1E2739"/>
                </a:solidFill>
                <a:latin typeface="Aptos"/>
              </a:rPr>
              <a:t> to</a:t>
            </a:r>
            <a:r>
              <a:rPr sz="1200" b="0" dirty="0">
                <a:solidFill>
                  <a:srgbClr val="1E2739"/>
                </a:solidFill>
                <a:latin typeface="Aptos"/>
              </a:rPr>
              <a:t> actionable funding 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75887" y="201168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9417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Scientific 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3904" y="2624328"/>
            <a:ext cx="2167128" cy="24231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1E2739"/>
                </a:solidFill>
                <a:latin typeface="Aptos"/>
              </a:rPr>
              <a:t>Connect grants with publications, authors and research outputs.
Start with metadata/abstracts; full text raises licensing and paywall constraints.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64807" y="2011680"/>
            <a:ext cx="502920" cy="109728"/>
          </a:xfrm>
          <a:prstGeom prst="roundRect">
            <a:avLst/>
          </a:prstGeom>
          <a:solidFill>
            <a:srgbClr val="A48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8309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Semantic 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2552" y="3105834"/>
            <a:ext cx="2167128" cy="6463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200" b="0" dirty="0">
                <a:solidFill>
                  <a:srgbClr val="1E2739"/>
                </a:solidFill>
                <a:latin typeface="Aptos"/>
              </a:rPr>
              <a:t>Improve the model with sentence embeddings as an added feature.</a:t>
            </a:r>
            <a:endParaRPr sz="1200" b="0" dirty="0">
              <a:solidFill>
                <a:srgbClr val="1E2739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05256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253728" y="2011680"/>
            <a:ext cx="502920" cy="109728"/>
          </a:xfrm>
          <a:prstGeom prst="roundRect">
            <a:avLst/>
          </a:prstGeom>
          <a:solidFill>
            <a:srgbClr val="BEA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7201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Human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4" y="2583180"/>
            <a:ext cx="2167128" cy="24231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1E2739"/>
                </a:solidFill>
                <a:latin typeface="Aptos"/>
              </a:rPr>
              <a:t>Build a larger researcher-labelled relevance benchmark.
Evaluate whether domain experts consistently find the rankings useful.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796959"/>
            <a:ext cx="8503920" cy="38472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900" b="1">
                <a:solidFill>
                  <a:srgbClr val="182745"/>
                </a:solidFill>
                <a:latin typeface="Aptos"/>
              </a:rPr>
              <a:t>From historical context to current opportunities and future discovery</a:t>
            </a:r>
            <a:endParaRPr sz="19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7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0" y="1920240"/>
            <a:ext cx="850392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E1E5EF"/>
                </a:solidFill>
                <a:latin typeface="Aptos"/>
              </a:rPr>
              <a:t>Questions?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40680" y="3657600"/>
            <a:ext cx="1325880" cy="6400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351BDA-1F8F-0599-6995-E090ABCD101A}"/>
              </a:ext>
            </a:extLst>
          </p:cNvPr>
          <p:cNvSpPr txBox="1"/>
          <p:nvPr/>
        </p:nvSpPr>
        <p:spPr>
          <a:xfrm>
            <a:off x="4346658" y="4425696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Aptos"/>
              </a:rPr>
              <a:t>Kyle Haustein • </a:t>
            </a:r>
            <a:r>
              <a:rPr sz="1200" b="1" dirty="0" err="1">
                <a:solidFill>
                  <a:srgbClr val="FFFFFF"/>
                </a:solidFill>
                <a:latin typeface="Aptos"/>
              </a:rPr>
              <a:t>Ironhack</a:t>
            </a:r>
            <a:r>
              <a:rPr sz="1200" b="1" dirty="0">
                <a:solidFill>
                  <a:srgbClr val="FFFFFF"/>
                </a:solidFill>
                <a:latin typeface="Aptos"/>
              </a:rPr>
              <a:t> Data Analytics Bootcamp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2839</TotalTime>
  <Words>722</Words>
  <Application>Microsoft Office PowerPoint</Application>
  <PresentationFormat>Widescreen</PresentationFormat>
  <Paragraphs>155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Kyle Haustein</dc:creator>
  <cp:keywords/>
  <dc:description>generated using python-pptx</dc:description>
  <cp:lastModifiedBy>Kyle Haustein</cp:lastModifiedBy>
  <cp:revision>5</cp:revision>
  <dcterms:created xsi:type="dcterms:W3CDTF">2013-01-27T09:14:16Z</dcterms:created>
  <dcterms:modified xsi:type="dcterms:W3CDTF">2026-08-12T13:15:28Z</dcterms:modified>
  <cp:category/>
</cp:coreProperties>
</file>